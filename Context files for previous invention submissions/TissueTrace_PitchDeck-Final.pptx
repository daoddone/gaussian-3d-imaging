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5143500" cy="9144000"/>
  <p:embeddedFontLst>
    <p:embeddedFont>
      <p:font typeface="Arial Black"/>
      <p:regular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20988C8-D4E2-453B-A5AF-FD85294E0526}">
  <a:tblStyle styleId="{B20988C8-D4E2-453B-A5AF-FD85294E052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ArialBlack-regular.fnt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744"/>
        </a:solidFill>
      </p:bgPr>
    </p:bg>
    <p:spTree>
      <p:nvGrpSpPr>
        <p:cNvPr id="15" name="Shape 15"/>
        <p:cNvGrpSpPr/>
        <p:nvPr/>
      </p:nvGrpSpPr>
      <p:grpSpPr>
        <a:xfrm>
          <a:off x="0" y="0"/>
          <a:ext cx="0" cy="0"/>
          <a:chOff x="0" y="0"/>
          <a:chExt cx="0" cy="0"/>
        </a:xfrm>
      </p:grpSpPr>
      <p:sp>
        <p:nvSpPr>
          <p:cNvPr id="16" name="Google Shape;16;p3"/>
          <p:cNvSpPr/>
          <p:nvPr/>
        </p:nvSpPr>
        <p:spPr>
          <a:xfrm>
            <a:off x="0" y="0"/>
            <a:ext cx="9144000" cy="54864"/>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p:cNvPicPr preferRelativeResize="0"/>
          <p:nvPr/>
        </p:nvPicPr>
        <p:blipFill rotWithShape="1">
          <a:blip r:embed="rId3">
            <a:alphaModFix/>
          </a:blip>
          <a:srcRect b="0" l="0" r="0" t="0"/>
          <a:stretch/>
        </p:blipFill>
        <p:spPr>
          <a:xfrm>
            <a:off x="3886200" y="548640"/>
            <a:ext cx="1371600" cy="1371600"/>
          </a:xfrm>
          <a:prstGeom prst="rect">
            <a:avLst/>
          </a:prstGeom>
          <a:noFill/>
          <a:ln>
            <a:noFill/>
          </a:ln>
        </p:spPr>
      </p:pic>
      <p:sp>
        <p:nvSpPr>
          <p:cNvPr id="18" name="Google Shape;18;p3"/>
          <p:cNvSpPr/>
          <p:nvPr/>
        </p:nvSpPr>
        <p:spPr>
          <a:xfrm>
            <a:off x="457200" y="1920240"/>
            <a:ext cx="822960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400"/>
              <a:buFont typeface="Arial Black"/>
              <a:buNone/>
            </a:pPr>
            <a:r>
              <a:rPr b="1" i="0" lang="en-US" sz="5400" u="none" cap="none" strike="noStrike">
                <a:solidFill>
                  <a:srgbClr val="FFFFFF"/>
                </a:solidFill>
                <a:latin typeface="Arial Black"/>
                <a:ea typeface="Arial Black"/>
                <a:cs typeface="Arial Black"/>
                <a:sym typeface="Arial Black"/>
              </a:rPr>
              <a:t>TissueTrace</a:t>
            </a:r>
            <a:endParaRPr b="0" i="0" sz="5400" u="none" cap="none" strike="noStrike">
              <a:solidFill>
                <a:schemeClr val="dk1"/>
              </a:solidFill>
              <a:latin typeface="Calibri"/>
              <a:ea typeface="Calibri"/>
              <a:cs typeface="Calibri"/>
              <a:sym typeface="Calibri"/>
            </a:endParaRPr>
          </a:p>
        </p:txBody>
      </p:sp>
      <p:sp>
        <p:nvSpPr>
          <p:cNvPr id="19" name="Google Shape;19;p3"/>
          <p:cNvSpPr/>
          <p:nvPr/>
        </p:nvSpPr>
        <p:spPr>
          <a:xfrm>
            <a:off x="914400" y="2926080"/>
            <a:ext cx="7315200" cy="82296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C0D4E0"/>
              </a:buClr>
              <a:buSzPts val="1800"/>
              <a:buFont typeface="Calibri"/>
              <a:buNone/>
            </a:pPr>
            <a:r>
              <a:rPr b="0" i="0" lang="en-US" sz="1800" u="none" cap="none" strike="noStrike">
                <a:solidFill>
                  <a:srgbClr val="C0D4E0"/>
                </a:solidFill>
                <a:latin typeface="Calibri"/>
                <a:ea typeface="Calibri"/>
                <a:cs typeface="Calibri"/>
                <a:sym typeface="Calibri"/>
              </a:rPr>
              <a:t>Photorealistic 3D Clinical Documentation</a:t>
            </a:r>
            <a:endParaRPr b="0" i="0" sz="1800" u="none" cap="none" strike="noStrike">
              <a:solidFill>
                <a:schemeClr val="dk1"/>
              </a:solidFill>
              <a:latin typeface="Calibri"/>
              <a:ea typeface="Calibri"/>
              <a:cs typeface="Calibri"/>
              <a:sym typeface="Calibri"/>
            </a:endParaRPr>
          </a:p>
          <a:p>
            <a:pPr indent="0" lvl="0" marL="0" marR="0" rtl="0" algn="ctr">
              <a:lnSpc>
                <a:spcPct val="130000"/>
              </a:lnSpc>
              <a:spcBef>
                <a:spcPts val="0"/>
              </a:spcBef>
              <a:spcAft>
                <a:spcPts val="0"/>
              </a:spcAft>
              <a:buClr>
                <a:srgbClr val="C0D4E0"/>
              </a:buClr>
              <a:buSzPts val="1800"/>
              <a:buFont typeface="Calibri"/>
              <a:buNone/>
            </a:pPr>
            <a:r>
              <a:rPr b="0" i="0" lang="en-US" sz="1800" u="none" cap="none" strike="noStrike">
                <a:solidFill>
                  <a:srgbClr val="C0D4E0"/>
                </a:solidFill>
                <a:latin typeface="Calibri"/>
                <a:ea typeface="Calibri"/>
                <a:cs typeface="Calibri"/>
                <a:sym typeface="Calibri"/>
              </a:rPr>
              <a:t>for Plastic &amp; Reconstructive Surgery</a:t>
            </a:r>
            <a:endParaRPr b="0" i="0" sz="1800" u="none" cap="none" strike="noStrike">
              <a:solidFill>
                <a:schemeClr val="dk1"/>
              </a:solidFill>
              <a:latin typeface="Calibri"/>
              <a:ea typeface="Calibri"/>
              <a:cs typeface="Calibri"/>
              <a:sym typeface="Calibri"/>
            </a:endParaRPr>
          </a:p>
        </p:txBody>
      </p:sp>
      <p:sp>
        <p:nvSpPr>
          <p:cNvPr id="20" name="Google Shape;20;p3"/>
          <p:cNvSpPr/>
          <p:nvPr/>
        </p:nvSpPr>
        <p:spPr>
          <a:xfrm>
            <a:off x="2743200" y="3840480"/>
            <a:ext cx="3657600" cy="36576"/>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914400" y="4069080"/>
            <a:ext cx="7315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EAFC0"/>
              </a:buClr>
              <a:buSzPts val="1400"/>
              <a:buFont typeface="Calibri"/>
              <a:buNone/>
            </a:pPr>
            <a:r>
              <a:rPr b="0" i="0" lang="en-US" sz="1400" u="none" cap="none" strike="noStrike">
                <a:solidFill>
                  <a:srgbClr val="8EAFC0"/>
                </a:solidFill>
                <a:latin typeface="Calibri"/>
                <a:ea typeface="Calibri"/>
                <a:cs typeface="Calibri"/>
                <a:sym typeface="Calibri"/>
              </a:rPr>
              <a:t>ASPS Inventors Challenge 2026</a:t>
            </a:r>
            <a:endParaRPr b="0" i="0" sz="1400" u="none" cap="none" strike="noStrike">
              <a:solidFill>
                <a:schemeClr val="dk1"/>
              </a:solidFill>
              <a:latin typeface="Calibri"/>
              <a:ea typeface="Calibri"/>
              <a:cs typeface="Calibri"/>
              <a:sym typeface="Calibri"/>
            </a:endParaRPr>
          </a:p>
        </p:txBody>
      </p:sp>
      <p:sp>
        <p:nvSpPr>
          <p:cNvPr id="22" name="Google Shape;22;p3"/>
          <p:cNvSpPr/>
          <p:nvPr/>
        </p:nvSpPr>
        <p:spPr>
          <a:xfrm>
            <a:off x="914400" y="4526280"/>
            <a:ext cx="73152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8EA5"/>
              </a:buClr>
              <a:buSzPts val="1100"/>
              <a:buFont typeface="Calibri"/>
              <a:buNone/>
            </a:pPr>
            <a:r>
              <a:rPr b="0" i="1" lang="en-US" sz="1100" u="none" cap="none" strike="noStrike">
                <a:solidFill>
                  <a:srgbClr val="6A8EA5"/>
                </a:solidFill>
                <a:latin typeface="Calibri"/>
                <a:ea typeface="Calibri"/>
                <a:cs typeface="Calibri"/>
                <a:sym typeface="Calibri"/>
              </a:rPr>
              <a:t>Christian Arcelona  •  Gosain Lab </a:t>
            </a:r>
            <a:r>
              <a:rPr i="1" lang="en-US" sz="1100">
                <a:solidFill>
                  <a:srgbClr val="6A8EA5"/>
                </a:solidFill>
                <a:latin typeface="Calibri"/>
                <a:ea typeface="Calibri"/>
                <a:cs typeface="Calibri"/>
                <a:sym typeface="Calibri"/>
              </a:rPr>
              <a:t>•  </a:t>
            </a:r>
            <a:r>
              <a:rPr b="0" i="1" lang="en-US" sz="1100" u="none" cap="none" strike="noStrike">
                <a:solidFill>
                  <a:srgbClr val="6A8EA5"/>
                </a:solidFill>
                <a:latin typeface="Calibri"/>
                <a:ea typeface="Calibri"/>
                <a:cs typeface="Calibri"/>
                <a:sym typeface="Calibri"/>
              </a:rPr>
              <a:t>Chicago Medical School / Rosalind Franklin University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4"/>
          <p:cNvSpPr/>
          <p:nvPr/>
        </p:nvSpPr>
        <p:spPr>
          <a:xfrm>
            <a:off x="0" y="0"/>
            <a:ext cx="9144000" cy="54864"/>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548640" y="228600"/>
            <a:ext cx="7315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3600"/>
              <a:buFont typeface="Arial Black"/>
              <a:buNone/>
            </a:pPr>
            <a:r>
              <a:rPr b="1" i="0" lang="en-US" sz="3600" u="none" cap="none" strike="noStrike">
                <a:solidFill>
                  <a:srgbClr val="1A2744"/>
                </a:solidFill>
                <a:latin typeface="Arial Black"/>
                <a:ea typeface="Arial Black"/>
                <a:cs typeface="Arial Black"/>
                <a:sym typeface="Arial Black"/>
              </a:rPr>
              <a:t>The Problem</a:t>
            </a:r>
            <a:endParaRPr b="0" i="0" sz="3600" u="none" cap="none" strike="noStrike">
              <a:solidFill>
                <a:schemeClr val="dk1"/>
              </a:solidFill>
              <a:latin typeface="Calibri"/>
              <a:ea typeface="Calibri"/>
              <a:cs typeface="Calibri"/>
              <a:sym typeface="Calibri"/>
            </a:endParaRPr>
          </a:p>
        </p:txBody>
      </p:sp>
      <p:sp>
        <p:nvSpPr>
          <p:cNvPr id="30" name="Google Shape;30;p4"/>
          <p:cNvSpPr/>
          <p:nvPr/>
        </p:nvSpPr>
        <p:spPr>
          <a:xfrm>
            <a:off x="548640" y="960120"/>
            <a:ext cx="7772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Calibri"/>
              <a:buNone/>
            </a:pPr>
            <a:r>
              <a:rPr b="0" i="1" lang="en-US" sz="1300" u="none" cap="none" strike="noStrike">
                <a:solidFill>
                  <a:srgbClr val="555555"/>
                </a:solidFill>
                <a:latin typeface="Calibri"/>
                <a:ea typeface="Calibri"/>
                <a:cs typeface="Calibri"/>
                <a:sym typeface="Calibri"/>
              </a:rPr>
              <a:t>Plastic surgery demands the highest imaging precision of any surgical specialty, yet</a:t>
            </a:r>
            <a:r>
              <a:rPr i="1" lang="en-US" sz="1300">
                <a:solidFill>
                  <a:srgbClr val="555555"/>
                </a:solidFill>
                <a:latin typeface="Calibri"/>
                <a:ea typeface="Calibri"/>
                <a:cs typeface="Calibri"/>
                <a:sym typeface="Calibri"/>
              </a:rPr>
              <a:t> the clinical photograph has not fundamentally changed in decades.</a:t>
            </a:r>
            <a:endParaRPr b="0" i="0" sz="1300" u="none" cap="none" strike="noStrike">
              <a:solidFill>
                <a:schemeClr val="dk1"/>
              </a:solidFill>
              <a:latin typeface="Calibri"/>
              <a:ea typeface="Calibri"/>
              <a:cs typeface="Calibri"/>
              <a:sym typeface="Calibri"/>
            </a:endParaRPr>
          </a:p>
        </p:txBody>
      </p:sp>
      <p:sp>
        <p:nvSpPr>
          <p:cNvPr id="31" name="Google Shape;31;p4"/>
          <p:cNvSpPr/>
          <p:nvPr/>
        </p:nvSpPr>
        <p:spPr>
          <a:xfrm>
            <a:off x="548640" y="1554480"/>
            <a:ext cx="2560320" cy="173736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548640" y="1645920"/>
            <a:ext cx="25603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5C3E"/>
              </a:buClr>
              <a:buSzPts val="3800"/>
              <a:buFont typeface="Arial Black"/>
              <a:buNone/>
            </a:pPr>
            <a:r>
              <a:rPr b="1" i="0" lang="en-US" sz="3800" u="none" cap="none" strike="noStrike">
                <a:solidFill>
                  <a:srgbClr val="D85C3E"/>
                </a:solidFill>
                <a:latin typeface="Arial Black"/>
                <a:ea typeface="Arial Black"/>
                <a:cs typeface="Arial Black"/>
                <a:sym typeface="Arial Black"/>
              </a:rPr>
              <a:t>96–99%</a:t>
            </a:r>
            <a:endParaRPr b="0" i="0" sz="3800" u="none" cap="none" strike="noStrike">
              <a:solidFill>
                <a:schemeClr val="dk1"/>
              </a:solidFill>
              <a:latin typeface="Calibri"/>
              <a:ea typeface="Calibri"/>
              <a:cs typeface="Calibri"/>
              <a:sym typeface="Calibri"/>
            </a:endParaRPr>
          </a:p>
        </p:txBody>
      </p:sp>
      <p:sp>
        <p:nvSpPr>
          <p:cNvPr id="33" name="Google Shape;33;p4"/>
          <p:cNvSpPr/>
          <p:nvPr/>
        </p:nvSpPr>
        <p:spPr>
          <a:xfrm>
            <a:off x="685800" y="2286000"/>
            <a:ext cx="2286000" cy="59436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A2744"/>
              </a:buClr>
              <a:buSzPts val="1100"/>
              <a:buFont typeface="Calibri"/>
              <a:buNone/>
            </a:pPr>
            <a:r>
              <a:rPr b="0" i="0" lang="en-US" sz="1100" u="none" cap="none" strike="noStrike">
                <a:solidFill>
                  <a:srgbClr val="1A2744"/>
                </a:solidFill>
                <a:latin typeface="Calibri"/>
                <a:ea typeface="Calibri"/>
                <a:cs typeface="Calibri"/>
                <a:sym typeface="Calibri"/>
              </a:rPr>
              <a:t>of plastic surgeons and trainees</a:t>
            </a:r>
            <a:endParaRPr b="0" i="0" sz="11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A2744"/>
              </a:buClr>
              <a:buSzPts val="1100"/>
              <a:buFont typeface="Calibri"/>
              <a:buNone/>
            </a:pPr>
            <a:r>
              <a:rPr b="0" i="0" lang="en-US" sz="1100" u="none" cap="none" strike="noStrike">
                <a:solidFill>
                  <a:srgbClr val="1A2744"/>
                </a:solidFill>
                <a:latin typeface="Calibri"/>
                <a:ea typeface="Calibri"/>
                <a:cs typeface="Calibri"/>
                <a:sym typeface="Calibri"/>
              </a:rPr>
              <a:t>use smartphones for clinical photos</a:t>
            </a:r>
            <a:endParaRPr b="0" i="0" sz="1100" u="none" cap="none" strike="noStrike">
              <a:solidFill>
                <a:schemeClr val="dk1"/>
              </a:solidFill>
              <a:latin typeface="Calibri"/>
              <a:ea typeface="Calibri"/>
              <a:cs typeface="Calibri"/>
              <a:sym typeface="Calibri"/>
            </a:endParaRPr>
          </a:p>
        </p:txBody>
      </p:sp>
      <p:sp>
        <p:nvSpPr>
          <p:cNvPr id="34" name="Google Shape;34;p4"/>
          <p:cNvSpPr/>
          <p:nvPr/>
        </p:nvSpPr>
        <p:spPr>
          <a:xfrm>
            <a:off x="685800" y="2880360"/>
            <a:ext cx="2286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900"/>
              <a:buFont typeface="Calibri"/>
              <a:buNone/>
            </a:pPr>
            <a:r>
              <a:rPr b="0" i="1" lang="en-US" sz="900" u="none" cap="none" strike="noStrike">
                <a:solidFill>
                  <a:srgbClr val="888888"/>
                </a:solidFill>
                <a:latin typeface="Calibri"/>
                <a:ea typeface="Calibri"/>
                <a:cs typeface="Calibri"/>
                <a:sym typeface="Calibri"/>
              </a:rPr>
              <a:t>Lam et al. 2019; Veith et al. 2022</a:t>
            </a:r>
            <a:endParaRPr b="0" i="0" sz="900" u="none" cap="none" strike="noStrike">
              <a:solidFill>
                <a:schemeClr val="dk1"/>
              </a:solidFill>
              <a:latin typeface="Calibri"/>
              <a:ea typeface="Calibri"/>
              <a:cs typeface="Calibri"/>
              <a:sym typeface="Calibri"/>
            </a:endParaRPr>
          </a:p>
        </p:txBody>
      </p:sp>
      <p:sp>
        <p:nvSpPr>
          <p:cNvPr id="35" name="Google Shape;35;p4"/>
          <p:cNvSpPr/>
          <p:nvPr/>
        </p:nvSpPr>
        <p:spPr>
          <a:xfrm>
            <a:off x="3291840" y="1554480"/>
            <a:ext cx="2560320" cy="173736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3291840" y="1645920"/>
            <a:ext cx="25603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5C3E"/>
              </a:buClr>
              <a:buSzPts val="3800"/>
              <a:buFont typeface="Arial Black"/>
              <a:buNone/>
            </a:pPr>
            <a:r>
              <a:rPr b="1" i="0" lang="en-US" sz="3800" u="none" cap="none" strike="noStrike">
                <a:solidFill>
                  <a:srgbClr val="D85C3E"/>
                </a:solidFill>
                <a:latin typeface="Arial Black"/>
                <a:ea typeface="Arial Black"/>
                <a:cs typeface="Arial Black"/>
                <a:sym typeface="Arial Black"/>
              </a:rPr>
              <a:t>65%</a:t>
            </a:r>
            <a:endParaRPr b="0" i="0" sz="3800" u="none" cap="none" strike="noStrike">
              <a:solidFill>
                <a:schemeClr val="dk1"/>
              </a:solidFill>
              <a:latin typeface="Calibri"/>
              <a:ea typeface="Calibri"/>
              <a:cs typeface="Calibri"/>
              <a:sym typeface="Calibri"/>
            </a:endParaRPr>
          </a:p>
        </p:txBody>
      </p:sp>
      <p:sp>
        <p:nvSpPr>
          <p:cNvPr id="37" name="Google Shape;37;p4"/>
          <p:cNvSpPr/>
          <p:nvPr/>
        </p:nvSpPr>
        <p:spPr>
          <a:xfrm>
            <a:off x="3429000" y="2286000"/>
            <a:ext cx="2286000" cy="59436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A2744"/>
              </a:buClr>
              <a:buSzPts val="1100"/>
              <a:buFont typeface="Calibri"/>
              <a:buNone/>
            </a:pPr>
            <a:r>
              <a:rPr b="0" i="0" lang="en-US" sz="1100" u="none" cap="none" strike="noStrike">
                <a:solidFill>
                  <a:srgbClr val="1A2744"/>
                </a:solidFill>
                <a:latin typeface="Calibri"/>
                <a:ea typeface="Calibri"/>
                <a:cs typeface="Calibri"/>
                <a:sym typeface="Calibri"/>
              </a:rPr>
              <a:t>use HIPAA-compliant</a:t>
            </a:r>
            <a:endParaRPr b="0" i="0" sz="11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A2744"/>
              </a:buClr>
              <a:buSzPts val="1100"/>
              <a:buFont typeface="Calibri"/>
              <a:buNone/>
            </a:pPr>
            <a:r>
              <a:rPr b="0" i="0" lang="en-US" sz="1100" u="none" cap="none" strike="noStrike">
                <a:solidFill>
                  <a:srgbClr val="1A2744"/>
                </a:solidFill>
                <a:latin typeface="Calibri"/>
                <a:ea typeface="Calibri"/>
                <a:cs typeface="Calibri"/>
                <a:sym typeface="Calibri"/>
              </a:rPr>
              <a:t>storage</a:t>
            </a:r>
            <a:endParaRPr b="0" i="0" sz="1100" u="none" cap="none" strike="noStrike">
              <a:solidFill>
                <a:schemeClr val="dk1"/>
              </a:solidFill>
              <a:latin typeface="Calibri"/>
              <a:ea typeface="Calibri"/>
              <a:cs typeface="Calibri"/>
              <a:sym typeface="Calibri"/>
            </a:endParaRPr>
          </a:p>
        </p:txBody>
      </p:sp>
      <p:sp>
        <p:nvSpPr>
          <p:cNvPr id="38" name="Google Shape;38;p4"/>
          <p:cNvSpPr/>
          <p:nvPr/>
        </p:nvSpPr>
        <p:spPr>
          <a:xfrm>
            <a:off x="3429000" y="2880360"/>
            <a:ext cx="2286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900"/>
              <a:buFont typeface="Calibri"/>
              <a:buNone/>
            </a:pPr>
            <a:r>
              <a:rPr b="0" i="1" lang="en-US" sz="900" u="none" cap="none" strike="noStrike">
                <a:solidFill>
                  <a:srgbClr val="888888"/>
                </a:solidFill>
                <a:latin typeface="Calibri"/>
                <a:ea typeface="Calibri"/>
                <a:cs typeface="Calibri"/>
                <a:sym typeface="Calibri"/>
              </a:rPr>
              <a:t>Veith et al., 2022</a:t>
            </a:r>
            <a:endParaRPr b="0" i="0" sz="900" u="none" cap="none" strike="noStrike">
              <a:solidFill>
                <a:schemeClr val="dk1"/>
              </a:solidFill>
              <a:latin typeface="Calibri"/>
              <a:ea typeface="Calibri"/>
              <a:cs typeface="Calibri"/>
              <a:sym typeface="Calibri"/>
            </a:endParaRPr>
          </a:p>
        </p:txBody>
      </p:sp>
      <p:sp>
        <p:nvSpPr>
          <p:cNvPr id="39" name="Google Shape;39;p4"/>
          <p:cNvSpPr/>
          <p:nvPr/>
        </p:nvSpPr>
        <p:spPr>
          <a:xfrm>
            <a:off x="6035040" y="1554480"/>
            <a:ext cx="2560320" cy="173736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6035040" y="1645920"/>
            <a:ext cx="25603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5C3E"/>
              </a:buClr>
              <a:buSzPts val="3800"/>
              <a:buFont typeface="Arial Black"/>
              <a:buNone/>
            </a:pPr>
            <a:r>
              <a:rPr b="1" i="0" lang="en-US" sz="3800" u="none" cap="none" strike="noStrike">
                <a:solidFill>
                  <a:srgbClr val="D85C3E"/>
                </a:solidFill>
                <a:latin typeface="Arial Black"/>
                <a:ea typeface="Arial Black"/>
                <a:cs typeface="Arial Black"/>
                <a:sym typeface="Arial Black"/>
              </a:rPr>
              <a:t>58%</a:t>
            </a:r>
            <a:endParaRPr b="0" i="0" sz="3800" u="none" cap="none" strike="noStrike">
              <a:solidFill>
                <a:schemeClr val="dk1"/>
              </a:solidFill>
              <a:latin typeface="Calibri"/>
              <a:ea typeface="Calibri"/>
              <a:cs typeface="Calibri"/>
              <a:sym typeface="Calibri"/>
            </a:endParaRPr>
          </a:p>
        </p:txBody>
      </p:sp>
      <p:sp>
        <p:nvSpPr>
          <p:cNvPr id="41" name="Google Shape;41;p4"/>
          <p:cNvSpPr/>
          <p:nvPr/>
        </p:nvSpPr>
        <p:spPr>
          <a:xfrm>
            <a:off x="6172200" y="2286000"/>
            <a:ext cx="2286000" cy="59436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A2744"/>
              </a:buClr>
              <a:buSzPts val="1100"/>
              <a:buFont typeface="Calibri"/>
              <a:buNone/>
            </a:pPr>
            <a:r>
              <a:rPr b="0" i="0" lang="en-US" sz="1100" u="none" cap="none" strike="noStrike">
                <a:solidFill>
                  <a:srgbClr val="1A2744"/>
                </a:solidFill>
                <a:latin typeface="Calibri"/>
                <a:ea typeface="Calibri"/>
                <a:cs typeface="Calibri"/>
                <a:sym typeface="Calibri"/>
              </a:rPr>
              <a:t>of surgical residents share</a:t>
            </a:r>
            <a:endParaRPr b="0" i="0" sz="11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A2744"/>
              </a:buClr>
              <a:buSzPts val="1100"/>
              <a:buFont typeface="Calibri"/>
              <a:buNone/>
            </a:pPr>
            <a:r>
              <a:rPr b="0" i="0" lang="en-US" sz="1100" u="none" cap="none" strike="noStrike">
                <a:solidFill>
                  <a:srgbClr val="1A2744"/>
                </a:solidFill>
                <a:latin typeface="Calibri"/>
                <a:ea typeface="Calibri"/>
                <a:cs typeface="Calibri"/>
                <a:sym typeface="Calibri"/>
              </a:rPr>
              <a:t>protected health info via text</a:t>
            </a:r>
            <a:endParaRPr b="0" i="0" sz="1100" u="none" cap="none" strike="noStrike">
              <a:solidFill>
                <a:schemeClr val="dk1"/>
              </a:solidFill>
              <a:latin typeface="Calibri"/>
              <a:ea typeface="Calibri"/>
              <a:cs typeface="Calibri"/>
              <a:sym typeface="Calibri"/>
            </a:endParaRPr>
          </a:p>
        </p:txBody>
      </p:sp>
      <p:sp>
        <p:nvSpPr>
          <p:cNvPr id="42" name="Google Shape;42;p4"/>
          <p:cNvSpPr/>
          <p:nvPr/>
        </p:nvSpPr>
        <p:spPr>
          <a:xfrm>
            <a:off x="6172200" y="2880360"/>
            <a:ext cx="2286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900"/>
              <a:buFont typeface="Calibri"/>
              <a:buNone/>
            </a:pPr>
            <a:r>
              <a:rPr b="0" i="1" lang="en-US" sz="900" u="none" cap="none" strike="noStrike">
                <a:solidFill>
                  <a:srgbClr val="888888"/>
                </a:solidFill>
                <a:latin typeface="Calibri"/>
                <a:ea typeface="Calibri"/>
                <a:cs typeface="Calibri"/>
                <a:sym typeface="Calibri"/>
              </a:rPr>
              <a:t>McKnight Franko, 2016</a:t>
            </a:r>
            <a:endParaRPr b="0" i="0" sz="900" u="none" cap="none" strike="noStrike">
              <a:solidFill>
                <a:schemeClr val="dk1"/>
              </a:solidFill>
              <a:latin typeface="Calibri"/>
              <a:ea typeface="Calibri"/>
              <a:cs typeface="Calibri"/>
              <a:sym typeface="Calibri"/>
            </a:endParaRPr>
          </a:p>
        </p:txBody>
      </p:sp>
      <p:sp>
        <p:nvSpPr>
          <p:cNvPr id="43" name="Google Shape;43;p4"/>
          <p:cNvSpPr/>
          <p:nvPr/>
        </p:nvSpPr>
        <p:spPr>
          <a:xfrm>
            <a:off x="731520" y="3520440"/>
            <a:ext cx="7680960" cy="15087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A2744"/>
              </a:buClr>
              <a:buSzPts val="1100"/>
              <a:buFont typeface="Calibri"/>
              <a:buChar char="•"/>
            </a:pPr>
            <a:r>
              <a:rPr b="0" i="0" lang="en-US" sz="1100" u="none" cap="none" strike="noStrike">
                <a:solidFill>
                  <a:srgbClr val="1A2744"/>
                </a:solidFill>
                <a:latin typeface="Calibri"/>
                <a:ea typeface="Calibri"/>
                <a:cs typeface="Calibri"/>
                <a:sym typeface="Calibri"/>
              </a:rPr>
              <a:t>Single-angle capture cannot assess contour, symmetry, or projection for surgical planning</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744"/>
              </a:buClr>
              <a:buSzPts val="1100"/>
              <a:buFont typeface="Calibri"/>
              <a:buChar char="•"/>
            </a:pPr>
            <a:r>
              <a:rPr b="0" i="0" lang="en-US" sz="1100" u="none" cap="none" strike="noStrike">
                <a:solidFill>
                  <a:srgbClr val="1A2744"/>
                </a:solidFill>
                <a:latin typeface="Calibri"/>
                <a:ea typeface="Calibri"/>
                <a:cs typeface="Calibri"/>
                <a:sym typeface="Calibri"/>
              </a:rPr>
              <a:t>No standardized lighting: OR, clinic, and home photos compared as if equivalent</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744"/>
              </a:buClr>
              <a:buSzPts val="1100"/>
              <a:buFont typeface="Calibri"/>
              <a:buChar char="•"/>
            </a:pPr>
            <a:r>
              <a:rPr b="0" i="0" lang="en-US" sz="1100" u="none" cap="none" strike="noStrike">
                <a:solidFill>
                  <a:srgbClr val="1A2744"/>
                </a:solidFill>
                <a:latin typeface="Calibri"/>
                <a:ea typeface="Calibri"/>
                <a:cs typeface="Calibri"/>
                <a:sym typeface="Calibri"/>
              </a:rPr>
              <a:t>Existing 3D systems (Vectra) cost $20,000–$50,000+ with limited reconstructive surgery adoption</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744"/>
              </a:buClr>
              <a:buSzPts val="1100"/>
              <a:buFont typeface="Calibri"/>
              <a:buChar char="•"/>
            </a:pPr>
            <a:r>
              <a:rPr b="0" i="0" lang="en-US" sz="1100" u="none" cap="none" strike="noStrike">
                <a:solidFill>
                  <a:srgbClr val="1A2744"/>
                </a:solidFill>
                <a:latin typeface="Calibri"/>
                <a:ea typeface="Calibri"/>
                <a:cs typeface="Calibri"/>
                <a:sym typeface="Calibri"/>
              </a:rPr>
              <a:t>A JPEG stored in the EHR can never be re-examined from new angles or reprocessed with future algorithms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A2744"/>
              </a:buClr>
              <a:buSzPts val="1100"/>
              <a:buFont typeface="Calibri"/>
              <a:buChar char="•"/>
            </a:pPr>
            <a:r>
              <a:rPr b="0" i="0" lang="en-US" sz="1100" u="none" cap="none" strike="noStrike">
                <a:solidFill>
                  <a:srgbClr val="1A2744"/>
                </a:solidFill>
                <a:latin typeface="Calibri"/>
                <a:ea typeface="Calibri"/>
                <a:cs typeface="Calibri"/>
                <a:sym typeface="Calibri"/>
              </a:rPr>
              <a:t>Incomplete documentation: a single-angle photo is a partial record of 3D anatomy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 name="Shape 48"/>
        <p:cNvGrpSpPr/>
        <p:nvPr/>
      </p:nvGrpSpPr>
      <p:grpSpPr>
        <a:xfrm>
          <a:off x="0" y="0"/>
          <a:ext cx="0" cy="0"/>
          <a:chOff x="0" y="0"/>
          <a:chExt cx="0" cy="0"/>
        </a:xfrm>
      </p:grpSpPr>
      <p:sp>
        <p:nvSpPr>
          <p:cNvPr id="49" name="Google Shape;49;p5"/>
          <p:cNvSpPr/>
          <p:nvPr/>
        </p:nvSpPr>
        <p:spPr>
          <a:xfrm>
            <a:off x="0" y="0"/>
            <a:ext cx="9144000" cy="54864"/>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548640" y="228600"/>
            <a:ext cx="7315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3600"/>
              <a:buFont typeface="Arial Black"/>
              <a:buNone/>
            </a:pPr>
            <a:r>
              <a:rPr b="1" i="0" lang="en-US" sz="3600" u="none" cap="none" strike="noStrike">
                <a:solidFill>
                  <a:srgbClr val="1A2744"/>
                </a:solidFill>
                <a:latin typeface="Arial Black"/>
                <a:ea typeface="Arial Black"/>
                <a:cs typeface="Arial Black"/>
                <a:sym typeface="Arial Black"/>
              </a:rPr>
              <a:t>The Solution</a:t>
            </a:r>
            <a:endParaRPr b="0" i="0" sz="3600" u="none" cap="none" strike="noStrike">
              <a:solidFill>
                <a:schemeClr val="dk1"/>
              </a:solidFill>
              <a:latin typeface="Calibri"/>
              <a:ea typeface="Calibri"/>
              <a:cs typeface="Calibri"/>
              <a:sym typeface="Calibri"/>
            </a:endParaRPr>
          </a:p>
        </p:txBody>
      </p:sp>
      <p:sp>
        <p:nvSpPr>
          <p:cNvPr id="51" name="Google Shape;51;p5"/>
          <p:cNvSpPr/>
          <p:nvPr/>
        </p:nvSpPr>
        <p:spPr>
          <a:xfrm>
            <a:off x="548640" y="91440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300"/>
              <a:buFont typeface="Calibri"/>
              <a:buNone/>
            </a:pPr>
            <a:r>
              <a:rPr b="0" i="1" lang="en-US" sz="1300" u="none" cap="none" strike="noStrike">
                <a:solidFill>
                  <a:srgbClr val="555555"/>
                </a:solidFill>
                <a:latin typeface="Calibri"/>
                <a:ea typeface="Calibri"/>
                <a:cs typeface="Calibri"/>
                <a:sym typeface="Calibri"/>
              </a:rPr>
              <a:t>An end-to-end platform. Smartphone in, interactive 3D record out.</a:t>
            </a:r>
            <a:endParaRPr b="0" i="0" sz="1300" u="none" cap="none" strike="noStrike">
              <a:solidFill>
                <a:schemeClr val="dk1"/>
              </a:solidFill>
              <a:latin typeface="Calibri"/>
              <a:ea typeface="Calibri"/>
              <a:cs typeface="Calibri"/>
              <a:sym typeface="Calibri"/>
            </a:endParaRPr>
          </a:p>
        </p:txBody>
      </p:sp>
      <p:sp>
        <p:nvSpPr>
          <p:cNvPr id="52" name="Google Shape;52;p5"/>
          <p:cNvSpPr/>
          <p:nvPr/>
        </p:nvSpPr>
        <p:spPr>
          <a:xfrm>
            <a:off x="365760" y="1371600"/>
            <a:ext cx="8412480" cy="164592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1165860" y="1463040"/>
            <a:ext cx="502920" cy="5029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1165860" y="14630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1</a:t>
            </a:r>
            <a:endParaRPr b="0" i="0" sz="1800" u="none" cap="none" strike="noStrike">
              <a:solidFill>
                <a:schemeClr val="dk1"/>
              </a:solidFill>
              <a:latin typeface="Calibri"/>
              <a:ea typeface="Calibri"/>
              <a:cs typeface="Calibri"/>
              <a:sym typeface="Calibri"/>
            </a:endParaRPr>
          </a:p>
        </p:txBody>
      </p:sp>
      <p:sp>
        <p:nvSpPr>
          <p:cNvPr id="55" name="Google Shape;55;p5"/>
          <p:cNvSpPr/>
          <p:nvPr/>
        </p:nvSpPr>
        <p:spPr>
          <a:xfrm>
            <a:off x="594360" y="2011680"/>
            <a:ext cx="1645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744"/>
              </a:buClr>
              <a:buSzPts val="1500"/>
              <a:buFont typeface="Arial"/>
              <a:buNone/>
            </a:pPr>
            <a:r>
              <a:rPr b="1" i="0" lang="en-US" sz="1500" u="none" cap="none" strike="noStrike">
                <a:solidFill>
                  <a:srgbClr val="1A2744"/>
                </a:solidFill>
                <a:latin typeface="Arial"/>
                <a:ea typeface="Arial"/>
                <a:cs typeface="Arial"/>
                <a:sym typeface="Arial"/>
              </a:rPr>
              <a:t>Capture</a:t>
            </a:r>
            <a:endParaRPr b="0" i="0" sz="1500" u="none" cap="none" strike="noStrike">
              <a:solidFill>
                <a:schemeClr val="dk1"/>
              </a:solidFill>
              <a:latin typeface="Calibri"/>
              <a:ea typeface="Calibri"/>
              <a:cs typeface="Calibri"/>
              <a:sym typeface="Calibri"/>
            </a:endParaRPr>
          </a:p>
        </p:txBody>
      </p:sp>
      <p:sp>
        <p:nvSpPr>
          <p:cNvPr id="56" name="Google Shape;56;p5"/>
          <p:cNvSpPr/>
          <p:nvPr/>
        </p:nvSpPr>
        <p:spPr>
          <a:xfrm>
            <a:off x="594360" y="2331720"/>
            <a:ext cx="1645920" cy="5029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~30s smartphone</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video orbit</a:t>
            </a:r>
            <a:endParaRPr b="0" i="0" sz="1000" u="none" cap="none" strike="noStrike">
              <a:solidFill>
                <a:schemeClr val="dk1"/>
              </a:solidFill>
              <a:latin typeface="Calibri"/>
              <a:ea typeface="Calibri"/>
              <a:cs typeface="Calibri"/>
              <a:sym typeface="Calibri"/>
            </a:endParaRPr>
          </a:p>
        </p:txBody>
      </p:sp>
      <p:sp>
        <p:nvSpPr>
          <p:cNvPr id="57" name="Google Shape;57;p5"/>
          <p:cNvSpPr/>
          <p:nvPr/>
        </p:nvSpPr>
        <p:spPr>
          <a:xfrm>
            <a:off x="2240280" y="1463040"/>
            <a:ext cx="4572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9999"/>
              </a:buClr>
              <a:buSzPts val="2200"/>
              <a:buFont typeface="Calibri"/>
              <a:buNone/>
            </a:pPr>
            <a:r>
              <a:rPr b="0" i="0" lang="en-US" sz="2200" u="none" cap="none" strike="noStrike">
                <a:solidFill>
                  <a:srgbClr val="999999"/>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58" name="Google Shape;58;p5"/>
          <p:cNvSpPr/>
          <p:nvPr/>
        </p:nvSpPr>
        <p:spPr>
          <a:xfrm>
            <a:off x="3268980" y="1463040"/>
            <a:ext cx="502920" cy="5029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3268980" y="14630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2</a:t>
            </a:r>
            <a:endParaRPr b="0" i="0" sz="1800" u="none" cap="none" strike="noStrike">
              <a:solidFill>
                <a:schemeClr val="dk1"/>
              </a:solidFill>
              <a:latin typeface="Calibri"/>
              <a:ea typeface="Calibri"/>
              <a:cs typeface="Calibri"/>
              <a:sym typeface="Calibri"/>
            </a:endParaRPr>
          </a:p>
        </p:txBody>
      </p:sp>
      <p:sp>
        <p:nvSpPr>
          <p:cNvPr id="60" name="Google Shape;60;p5"/>
          <p:cNvSpPr/>
          <p:nvPr/>
        </p:nvSpPr>
        <p:spPr>
          <a:xfrm>
            <a:off x="2697480" y="2011680"/>
            <a:ext cx="1645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744"/>
              </a:buClr>
              <a:buSzPts val="1500"/>
              <a:buFont typeface="Arial"/>
              <a:buNone/>
            </a:pPr>
            <a:r>
              <a:rPr b="1" i="0" lang="en-US" sz="1500" u="none" cap="none" strike="noStrike">
                <a:solidFill>
                  <a:srgbClr val="1A2744"/>
                </a:solidFill>
                <a:latin typeface="Arial"/>
                <a:ea typeface="Arial"/>
                <a:cs typeface="Arial"/>
                <a:sym typeface="Arial"/>
              </a:rPr>
              <a:t>Reconstruct</a:t>
            </a:r>
            <a:endParaRPr b="0" i="0" sz="1500" u="none" cap="none" strike="noStrike">
              <a:solidFill>
                <a:schemeClr val="dk1"/>
              </a:solidFill>
              <a:latin typeface="Calibri"/>
              <a:ea typeface="Calibri"/>
              <a:cs typeface="Calibri"/>
              <a:sym typeface="Calibri"/>
            </a:endParaRPr>
          </a:p>
        </p:txBody>
      </p:sp>
      <p:sp>
        <p:nvSpPr>
          <p:cNvPr id="61" name="Google Shape;61;p5"/>
          <p:cNvSpPr/>
          <p:nvPr/>
        </p:nvSpPr>
        <p:spPr>
          <a:xfrm>
            <a:off x="2697480" y="2331720"/>
            <a:ext cx="1645920" cy="5029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3D Gaussian Splatting</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 mesh extraction</a:t>
            </a:r>
            <a:endParaRPr b="0" i="0" sz="1000" u="none" cap="none" strike="noStrike">
              <a:solidFill>
                <a:schemeClr val="dk1"/>
              </a:solidFill>
              <a:latin typeface="Calibri"/>
              <a:ea typeface="Calibri"/>
              <a:cs typeface="Calibri"/>
              <a:sym typeface="Calibri"/>
            </a:endParaRPr>
          </a:p>
        </p:txBody>
      </p:sp>
      <p:sp>
        <p:nvSpPr>
          <p:cNvPr id="62" name="Google Shape;62;p5"/>
          <p:cNvSpPr/>
          <p:nvPr/>
        </p:nvSpPr>
        <p:spPr>
          <a:xfrm>
            <a:off x="4343400" y="1463040"/>
            <a:ext cx="4572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9999"/>
              </a:buClr>
              <a:buSzPts val="2200"/>
              <a:buFont typeface="Calibri"/>
              <a:buNone/>
            </a:pPr>
            <a:r>
              <a:rPr b="0" i="0" lang="en-US" sz="2200" u="none" cap="none" strike="noStrike">
                <a:solidFill>
                  <a:srgbClr val="999999"/>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63" name="Google Shape;63;p5"/>
          <p:cNvSpPr/>
          <p:nvPr/>
        </p:nvSpPr>
        <p:spPr>
          <a:xfrm>
            <a:off x="5372100" y="1463040"/>
            <a:ext cx="502920" cy="5029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5372100" y="14630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3</a:t>
            </a:r>
            <a:endParaRPr b="0" i="0" sz="1800" u="none" cap="none" strike="noStrike">
              <a:solidFill>
                <a:schemeClr val="dk1"/>
              </a:solidFill>
              <a:latin typeface="Calibri"/>
              <a:ea typeface="Calibri"/>
              <a:cs typeface="Calibri"/>
              <a:sym typeface="Calibri"/>
            </a:endParaRPr>
          </a:p>
        </p:txBody>
      </p:sp>
      <p:sp>
        <p:nvSpPr>
          <p:cNvPr id="65" name="Google Shape;65;p5"/>
          <p:cNvSpPr/>
          <p:nvPr/>
        </p:nvSpPr>
        <p:spPr>
          <a:xfrm>
            <a:off x="4800600" y="2011680"/>
            <a:ext cx="1645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744"/>
              </a:buClr>
              <a:buSzPts val="1500"/>
              <a:buFont typeface="Arial"/>
              <a:buNone/>
            </a:pPr>
            <a:r>
              <a:rPr b="1" i="0" lang="en-US" sz="1500" u="none" cap="none" strike="noStrike">
                <a:solidFill>
                  <a:srgbClr val="1A2744"/>
                </a:solidFill>
                <a:latin typeface="Arial"/>
                <a:ea typeface="Arial"/>
                <a:cs typeface="Arial"/>
                <a:sym typeface="Arial"/>
              </a:rPr>
              <a:t>Archive</a:t>
            </a:r>
            <a:endParaRPr b="0" i="0" sz="1500" u="none" cap="none" strike="noStrike">
              <a:solidFill>
                <a:schemeClr val="dk1"/>
              </a:solidFill>
              <a:latin typeface="Calibri"/>
              <a:ea typeface="Calibri"/>
              <a:cs typeface="Calibri"/>
              <a:sym typeface="Calibri"/>
            </a:endParaRPr>
          </a:p>
        </p:txBody>
      </p:sp>
      <p:sp>
        <p:nvSpPr>
          <p:cNvPr id="66" name="Google Shape;66;p5"/>
          <p:cNvSpPr/>
          <p:nvPr/>
        </p:nvSpPr>
        <p:spPr>
          <a:xfrm>
            <a:off x="4800600" y="2331720"/>
            <a:ext cx="1645920" cy="5029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HIPAA-compliant</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EHR-linked storage</a:t>
            </a:r>
            <a:endParaRPr b="0" i="0" sz="1000" u="none" cap="none" strike="noStrike">
              <a:solidFill>
                <a:schemeClr val="dk1"/>
              </a:solidFill>
              <a:latin typeface="Calibri"/>
              <a:ea typeface="Calibri"/>
              <a:cs typeface="Calibri"/>
              <a:sym typeface="Calibri"/>
            </a:endParaRPr>
          </a:p>
        </p:txBody>
      </p:sp>
      <p:sp>
        <p:nvSpPr>
          <p:cNvPr id="67" name="Google Shape;67;p5"/>
          <p:cNvSpPr/>
          <p:nvPr/>
        </p:nvSpPr>
        <p:spPr>
          <a:xfrm>
            <a:off x="6446520" y="1463040"/>
            <a:ext cx="4572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99999"/>
              </a:buClr>
              <a:buSzPts val="2200"/>
              <a:buFont typeface="Calibri"/>
              <a:buNone/>
            </a:pPr>
            <a:r>
              <a:rPr b="0" i="0" lang="en-US" sz="2200" u="none" cap="none" strike="noStrike">
                <a:solidFill>
                  <a:srgbClr val="999999"/>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68" name="Google Shape;68;p5"/>
          <p:cNvSpPr/>
          <p:nvPr/>
        </p:nvSpPr>
        <p:spPr>
          <a:xfrm>
            <a:off x="7475220" y="1463040"/>
            <a:ext cx="502920" cy="5029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7475220" y="14630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4</a:t>
            </a:r>
            <a:endParaRPr b="0" i="0" sz="1800" u="none" cap="none" strike="noStrike">
              <a:solidFill>
                <a:schemeClr val="dk1"/>
              </a:solidFill>
              <a:latin typeface="Calibri"/>
              <a:ea typeface="Calibri"/>
              <a:cs typeface="Calibri"/>
              <a:sym typeface="Calibri"/>
            </a:endParaRPr>
          </a:p>
        </p:txBody>
      </p:sp>
      <p:sp>
        <p:nvSpPr>
          <p:cNvPr id="70" name="Google Shape;70;p5"/>
          <p:cNvSpPr/>
          <p:nvPr/>
        </p:nvSpPr>
        <p:spPr>
          <a:xfrm>
            <a:off x="6903720" y="2011680"/>
            <a:ext cx="1645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744"/>
              </a:buClr>
              <a:buSzPts val="1500"/>
              <a:buFont typeface="Arial"/>
              <a:buNone/>
            </a:pPr>
            <a:r>
              <a:rPr b="1" i="0" lang="en-US" sz="1500" u="none" cap="none" strike="noStrike">
                <a:solidFill>
                  <a:srgbClr val="1A2744"/>
                </a:solidFill>
                <a:latin typeface="Arial"/>
                <a:ea typeface="Arial"/>
                <a:cs typeface="Arial"/>
                <a:sym typeface="Arial"/>
              </a:rPr>
              <a:t>Explore</a:t>
            </a:r>
            <a:endParaRPr b="0" i="0" sz="1500" u="none" cap="none" strike="noStrike">
              <a:solidFill>
                <a:schemeClr val="dk1"/>
              </a:solidFill>
              <a:latin typeface="Calibri"/>
              <a:ea typeface="Calibri"/>
              <a:cs typeface="Calibri"/>
              <a:sym typeface="Calibri"/>
            </a:endParaRPr>
          </a:p>
        </p:txBody>
      </p:sp>
      <p:sp>
        <p:nvSpPr>
          <p:cNvPr id="71" name="Google Shape;71;p5"/>
          <p:cNvSpPr/>
          <p:nvPr/>
        </p:nvSpPr>
        <p:spPr>
          <a:xfrm>
            <a:off x="6903720" y="2331720"/>
            <a:ext cx="1645920" cy="5029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Interactive 3D</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555555"/>
              </a:buClr>
              <a:buSzPts val="1000"/>
              <a:buFont typeface="Calibri"/>
              <a:buNone/>
            </a:pPr>
            <a:r>
              <a:rPr b="0" i="0" lang="en-US" sz="1000" u="none" cap="none" strike="noStrike">
                <a:solidFill>
                  <a:srgbClr val="555555"/>
                </a:solidFill>
                <a:latin typeface="Calibri"/>
                <a:ea typeface="Calibri"/>
                <a:cs typeface="Calibri"/>
                <a:sym typeface="Calibri"/>
              </a:rPr>
              <a:t>anywhere, any device</a:t>
            </a:r>
            <a:endParaRPr b="0" i="0" sz="1000" u="none" cap="none" strike="noStrike">
              <a:solidFill>
                <a:schemeClr val="dk1"/>
              </a:solidFill>
              <a:latin typeface="Calibri"/>
              <a:ea typeface="Calibri"/>
              <a:cs typeface="Calibri"/>
              <a:sym typeface="Calibri"/>
            </a:endParaRPr>
          </a:p>
        </p:txBody>
      </p:sp>
      <p:sp>
        <p:nvSpPr>
          <p:cNvPr id="72" name="Google Shape;72;p5"/>
          <p:cNvSpPr/>
          <p:nvPr/>
        </p:nvSpPr>
        <p:spPr>
          <a:xfrm>
            <a:off x="548640" y="3200400"/>
            <a:ext cx="8046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744"/>
              </a:buClr>
              <a:buSzPts val="1300"/>
              <a:buFont typeface="Calibri"/>
              <a:buNone/>
            </a:pPr>
            <a:r>
              <a:rPr b="1" i="0" lang="en-US" sz="1300" u="none" cap="none" strike="noStrike">
                <a:solidFill>
                  <a:srgbClr val="1A2744"/>
                </a:solidFill>
                <a:latin typeface="Calibri"/>
                <a:ea typeface="Calibri"/>
                <a:cs typeface="Calibri"/>
                <a:sym typeface="Calibri"/>
              </a:rPr>
              <a:t>Any smartphone works. No LiDAR required. No dedicated hardware, no dongles.</a:t>
            </a:r>
            <a:endParaRPr b="0" i="0" sz="1300" u="none" cap="none" strike="noStrike">
              <a:solidFill>
                <a:schemeClr val="dk1"/>
              </a:solidFill>
              <a:latin typeface="Calibri"/>
              <a:ea typeface="Calibri"/>
              <a:cs typeface="Calibri"/>
              <a:sym typeface="Calibri"/>
            </a:endParaRPr>
          </a:p>
        </p:txBody>
      </p:sp>
      <p:sp>
        <p:nvSpPr>
          <p:cNvPr id="73" name="Google Shape;73;p5"/>
          <p:cNvSpPr/>
          <p:nvPr/>
        </p:nvSpPr>
        <p:spPr>
          <a:xfrm>
            <a:off x="365760" y="3657600"/>
            <a:ext cx="8412480" cy="1143000"/>
          </a:xfrm>
          <a:prstGeom prst="rect">
            <a:avLst/>
          </a:prstGeom>
          <a:solidFill>
            <a:srgbClr val="1A2744"/>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640080" y="370332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CC5D6"/>
              </a:buClr>
              <a:buSzPts val="1200"/>
              <a:buFont typeface="Calibri"/>
              <a:buNone/>
            </a:pPr>
            <a:r>
              <a:rPr b="1" i="0" lang="en-US" sz="1200" u="none" cap="none" strike="noStrike">
                <a:solidFill>
                  <a:srgbClr val="6CC5D6"/>
                </a:solidFill>
                <a:latin typeface="Calibri"/>
                <a:ea typeface="Calibri"/>
                <a:cs typeface="Calibri"/>
                <a:sym typeface="Calibri"/>
              </a:rPr>
              <a:t>Zero additional hardware. </a:t>
            </a:r>
            <a:r>
              <a:rPr b="0" i="0" lang="en-US" sz="1200" u="none" cap="none" strike="noStrike">
                <a:solidFill>
                  <a:srgbClr val="D0DEE6"/>
                </a:solidFill>
                <a:latin typeface="Calibri"/>
                <a:ea typeface="Calibri"/>
                <a:cs typeface="Calibri"/>
                <a:sym typeface="Calibri"/>
              </a:rPr>
              <a:t>Uses the smartphone already in every surgeon’s pocket. The behavioral change is minimal: a 30-second video orbit instead of 3 to 5 static photographs. Same time. Dramatically richer data.</a:t>
            </a:r>
            <a:endParaRPr b="0" i="0" sz="1200" u="none" cap="none" strike="noStrike">
              <a:solidFill>
                <a:schemeClr val="dk1"/>
              </a:solidFill>
              <a:latin typeface="Calibri"/>
              <a:ea typeface="Calibri"/>
              <a:cs typeface="Calibri"/>
              <a:sym typeface="Calibri"/>
            </a:endParaRPr>
          </a:p>
        </p:txBody>
      </p:sp>
      <p:sp>
        <p:nvSpPr>
          <p:cNvPr id="75" name="Google Shape;75;p5"/>
          <p:cNvSpPr/>
          <p:nvPr/>
        </p:nvSpPr>
        <p:spPr>
          <a:xfrm>
            <a:off x="640080" y="4297680"/>
            <a:ext cx="7863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A5B8"/>
              </a:buClr>
              <a:buSzPts val="1000"/>
              <a:buFont typeface="Calibri"/>
              <a:buNone/>
            </a:pPr>
            <a:r>
              <a:rPr b="0" i="1" lang="en-US" sz="1000" u="none" cap="none" strike="noStrike">
                <a:solidFill>
                  <a:srgbClr val="7AA5B8"/>
                </a:solidFill>
                <a:latin typeface="Calibri"/>
                <a:ea typeface="Calibri"/>
                <a:cs typeface="Calibri"/>
                <a:sym typeface="Calibri"/>
              </a:rPr>
              <a:t>Vectra: $20,000–$50,000+   |   eKare: ~$5K + iPad add-on   |   TissueTrace: $0 hardware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6"/>
          <p:cNvSpPr/>
          <p:nvPr/>
        </p:nvSpPr>
        <p:spPr>
          <a:xfrm>
            <a:off x="0" y="0"/>
            <a:ext cx="9144000" cy="54864"/>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548640" y="22860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2700"/>
              <a:buFont typeface="Arial Black"/>
              <a:buNone/>
            </a:pPr>
            <a:r>
              <a:rPr b="1" i="0" lang="en-US" sz="2700" u="none" cap="none" strike="noStrike">
                <a:solidFill>
                  <a:srgbClr val="1A2744"/>
                </a:solidFill>
                <a:latin typeface="Arial Black"/>
                <a:ea typeface="Arial Black"/>
                <a:cs typeface="Arial Black"/>
                <a:sym typeface="Arial Black"/>
              </a:rPr>
              <a:t>Under the Hood: Reconstruction Pipeline</a:t>
            </a:r>
            <a:endParaRPr b="0" i="0" sz="2700" u="none" cap="none" strike="noStrike">
              <a:solidFill>
                <a:schemeClr val="dk1"/>
              </a:solidFill>
              <a:latin typeface="Calibri"/>
              <a:ea typeface="Calibri"/>
              <a:cs typeface="Calibri"/>
              <a:sym typeface="Calibri"/>
            </a:endParaRPr>
          </a:p>
        </p:txBody>
      </p:sp>
      <p:sp>
        <p:nvSpPr>
          <p:cNvPr id="83" name="Google Shape;83;p6"/>
          <p:cNvSpPr/>
          <p:nvPr/>
        </p:nvSpPr>
        <p:spPr>
          <a:xfrm>
            <a:off x="548640" y="80467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200"/>
              <a:buFont typeface="Calibri"/>
              <a:buNone/>
            </a:pPr>
            <a:r>
              <a:rPr b="0" i="1" lang="en-US" sz="1200" u="none" cap="none" strike="noStrike">
                <a:solidFill>
                  <a:srgbClr val="555555"/>
                </a:solidFill>
                <a:latin typeface="Calibri"/>
                <a:ea typeface="Calibri"/>
                <a:cs typeface="Calibri"/>
                <a:sym typeface="Calibri"/>
              </a:rPr>
              <a:t>Modern computer vision delivers what dedicated hardware used to require.</a:t>
            </a:r>
            <a:endParaRPr b="0" i="0" sz="1200" u="none" cap="none" strike="noStrike">
              <a:solidFill>
                <a:schemeClr val="dk1"/>
              </a:solidFill>
              <a:latin typeface="Calibri"/>
              <a:ea typeface="Calibri"/>
              <a:cs typeface="Calibri"/>
              <a:sym typeface="Calibri"/>
            </a:endParaRPr>
          </a:p>
        </p:txBody>
      </p:sp>
      <p:sp>
        <p:nvSpPr>
          <p:cNvPr id="84" name="Google Shape;84;p6"/>
          <p:cNvSpPr/>
          <p:nvPr/>
        </p:nvSpPr>
        <p:spPr>
          <a:xfrm>
            <a:off x="457200" y="1280160"/>
            <a:ext cx="8229600" cy="804672"/>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457200" y="1280160"/>
            <a:ext cx="54864" cy="804672"/>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658368" y="141732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658368" y="1417320"/>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Calibri"/>
              <a:ea typeface="Calibri"/>
              <a:cs typeface="Calibri"/>
              <a:sym typeface="Calibri"/>
            </a:endParaRPr>
          </a:p>
        </p:txBody>
      </p:sp>
      <p:sp>
        <p:nvSpPr>
          <p:cNvPr id="88" name="Google Shape;88;p6"/>
          <p:cNvSpPr/>
          <p:nvPr/>
        </p:nvSpPr>
        <p:spPr>
          <a:xfrm>
            <a:off x="1280160" y="1325880"/>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1400"/>
              <a:buFont typeface="Arial"/>
              <a:buNone/>
            </a:pPr>
            <a:r>
              <a:rPr b="1" i="0" lang="en-US" sz="1400" u="none" cap="none" strike="noStrike">
                <a:solidFill>
                  <a:srgbClr val="1A2744"/>
                </a:solidFill>
                <a:latin typeface="Arial"/>
                <a:ea typeface="Arial"/>
                <a:cs typeface="Arial"/>
                <a:sym typeface="Arial"/>
              </a:rPr>
              <a:t>Video → Frames</a:t>
            </a:r>
            <a:endParaRPr b="0" i="0" sz="1400" u="none" cap="none" strike="noStrike">
              <a:solidFill>
                <a:schemeClr val="dk1"/>
              </a:solidFill>
              <a:latin typeface="Calibri"/>
              <a:ea typeface="Calibri"/>
              <a:cs typeface="Calibri"/>
              <a:sym typeface="Calibri"/>
            </a:endParaRPr>
          </a:p>
        </p:txBody>
      </p:sp>
      <p:sp>
        <p:nvSpPr>
          <p:cNvPr id="89" name="Google Shape;89;p6"/>
          <p:cNvSpPr/>
          <p:nvPr/>
        </p:nvSpPr>
        <p:spPr>
          <a:xfrm>
            <a:off x="1280160" y="1627632"/>
            <a:ext cx="7132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Extract frames from a 30-second orbit at 30 FPS. Frame density captures tissue from every angle, including concave surfaces (wounds, expander pockets) that multi-photo methods miss.</a:t>
            </a:r>
            <a:endParaRPr b="0" i="0" sz="1000" u="none" cap="none" strike="noStrike">
              <a:solidFill>
                <a:schemeClr val="dk1"/>
              </a:solidFill>
              <a:latin typeface="Calibri"/>
              <a:ea typeface="Calibri"/>
              <a:cs typeface="Calibri"/>
              <a:sym typeface="Calibri"/>
            </a:endParaRPr>
          </a:p>
        </p:txBody>
      </p:sp>
      <p:sp>
        <p:nvSpPr>
          <p:cNvPr id="90" name="Google Shape;90;p6"/>
          <p:cNvSpPr/>
          <p:nvPr/>
        </p:nvSpPr>
        <p:spPr>
          <a:xfrm>
            <a:off x="457200" y="2194560"/>
            <a:ext cx="8229600" cy="804672"/>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457200" y="2194560"/>
            <a:ext cx="54864" cy="804672"/>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658368" y="233172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658368" y="2331720"/>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Calibri"/>
              <a:ea typeface="Calibri"/>
              <a:cs typeface="Calibri"/>
              <a:sym typeface="Calibri"/>
            </a:endParaRPr>
          </a:p>
        </p:txBody>
      </p:sp>
      <p:sp>
        <p:nvSpPr>
          <p:cNvPr id="94" name="Google Shape;94;p6"/>
          <p:cNvSpPr/>
          <p:nvPr/>
        </p:nvSpPr>
        <p:spPr>
          <a:xfrm>
            <a:off x="1280160" y="2240280"/>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1400"/>
              <a:buFont typeface="Arial"/>
              <a:buNone/>
            </a:pPr>
            <a:r>
              <a:rPr b="1" i="0" lang="en-US" sz="1400" u="none" cap="none" strike="noStrike">
                <a:solidFill>
                  <a:srgbClr val="1A2744"/>
                </a:solidFill>
                <a:latin typeface="Arial"/>
                <a:ea typeface="Arial"/>
                <a:cs typeface="Arial"/>
                <a:sym typeface="Arial"/>
              </a:rPr>
              <a:t>Structure from Motion (COLMAP)</a:t>
            </a:r>
            <a:endParaRPr b="0" i="0" sz="1400" u="none" cap="none" strike="noStrike">
              <a:solidFill>
                <a:schemeClr val="dk1"/>
              </a:solidFill>
              <a:latin typeface="Calibri"/>
              <a:ea typeface="Calibri"/>
              <a:cs typeface="Calibri"/>
              <a:sym typeface="Calibri"/>
            </a:endParaRPr>
          </a:p>
        </p:txBody>
      </p:sp>
      <p:sp>
        <p:nvSpPr>
          <p:cNvPr id="95" name="Google Shape;95;p6"/>
          <p:cNvSpPr/>
          <p:nvPr/>
        </p:nvSpPr>
        <p:spPr>
          <a:xfrm>
            <a:off x="1280160" y="2542032"/>
            <a:ext cx="7132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Open-source Structure from Motion estimates camera pose for every frame via feature matching and bundle adjustment. Outputs: camera trajectory + sparse 3D point cloud.</a:t>
            </a:r>
            <a:endParaRPr b="0" i="0" sz="1000" u="none" cap="none" strike="noStrike">
              <a:solidFill>
                <a:schemeClr val="dk1"/>
              </a:solidFill>
              <a:latin typeface="Calibri"/>
              <a:ea typeface="Calibri"/>
              <a:cs typeface="Calibri"/>
              <a:sym typeface="Calibri"/>
            </a:endParaRPr>
          </a:p>
        </p:txBody>
      </p:sp>
      <p:sp>
        <p:nvSpPr>
          <p:cNvPr id="96" name="Google Shape;96;p6"/>
          <p:cNvSpPr/>
          <p:nvPr/>
        </p:nvSpPr>
        <p:spPr>
          <a:xfrm>
            <a:off x="457200" y="3108960"/>
            <a:ext cx="8229600" cy="804672"/>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457200" y="3108960"/>
            <a:ext cx="54864" cy="804672"/>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658368" y="324612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658368" y="3246120"/>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Calibri"/>
              <a:ea typeface="Calibri"/>
              <a:cs typeface="Calibri"/>
              <a:sym typeface="Calibri"/>
            </a:endParaRPr>
          </a:p>
        </p:txBody>
      </p:sp>
      <p:sp>
        <p:nvSpPr>
          <p:cNvPr id="100" name="Google Shape;100;p6"/>
          <p:cNvSpPr/>
          <p:nvPr/>
        </p:nvSpPr>
        <p:spPr>
          <a:xfrm>
            <a:off x="1280160" y="3154680"/>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1400"/>
              <a:buFont typeface="Arial"/>
              <a:buNone/>
            </a:pPr>
            <a:r>
              <a:rPr b="1" i="0" lang="en-US" sz="1400" u="none" cap="none" strike="noStrike">
                <a:solidFill>
                  <a:srgbClr val="1A2744"/>
                </a:solidFill>
                <a:latin typeface="Arial"/>
                <a:ea typeface="Arial"/>
                <a:cs typeface="Arial"/>
                <a:sym typeface="Arial"/>
              </a:rPr>
              <a:t>3D Gaussian Splatting</a:t>
            </a:r>
            <a:endParaRPr b="0" i="0" sz="1400" u="none" cap="none" strike="noStrike">
              <a:solidFill>
                <a:schemeClr val="dk1"/>
              </a:solidFill>
              <a:latin typeface="Calibri"/>
              <a:ea typeface="Calibri"/>
              <a:cs typeface="Calibri"/>
              <a:sym typeface="Calibri"/>
            </a:endParaRPr>
          </a:p>
        </p:txBody>
      </p:sp>
      <p:sp>
        <p:nvSpPr>
          <p:cNvPr id="101" name="Google Shape;101;p6"/>
          <p:cNvSpPr/>
          <p:nvPr/>
        </p:nvSpPr>
        <p:spPr>
          <a:xfrm>
            <a:off x="1280160" y="3456432"/>
            <a:ext cx="7132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Volumetric Gaussians optimized to reproduce every frame from its known pose. Spherical harmonics encode view-dependent appearance: specular sheen, translucency, and scar reflectance.</a:t>
            </a:r>
            <a:endParaRPr b="0" i="0" sz="1000" u="none" cap="none" strike="noStrike">
              <a:solidFill>
                <a:schemeClr val="dk1"/>
              </a:solidFill>
              <a:latin typeface="Calibri"/>
              <a:ea typeface="Calibri"/>
              <a:cs typeface="Calibri"/>
              <a:sym typeface="Calibri"/>
            </a:endParaRPr>
          </a:p>
        </p:txBody>
      </p:sp>
      <p:sp>
        <p:nvSpPr>
          <p:cNvPr id="102" name="Google Shape;102;p6"/>
          <p:cNvSpPr/>
          <p:nvPr/>
        </p:nvSpPr>
        <p:spPr>
          <a:xfrm>
            <a:off x="457200" y="4023360"/>
            <a:ext cx="8229600" cy="804672"/>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457200" y="4023360"/>
            <a:ext cx="54864" cy="804672"/>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658368" y="416052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658368" y="4160520"/>
            <a:ext cx="475488"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b="0" i="0" sz="1600" u="none" cap="none" strike="noStrike">
              <a:solidFill>
                <a:schemeClr val="dk1"/>
              </a:solidFill>
              <a:latin typeface="Calibri"/>
              <a:ea typeface="Calibri"/>
              <a:cs typeface="Calibri"/>
              <a:sym typeface="Calibri"/>
            </a:endParaRPr>
          </a:p>
        </p:txBody>
      </p:sp>
      <p:sp>
        <p:nvSpPr>
          <p:cNvPr id="106" name="Google Shape;106;p6"/>
          <p:cNvSpPr/>
          <p:nvPr/>
        </p:nvSpPr>
        <p:spPr>
          <a:xfrm>
            <a:off x="1280160" y="4069080"/>
            <a:ext cx="7132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1400"/>
              <a:buFont typeface="Arial"/>
              <a:buNone/>
            </a:pPr>
            <a:r>
              <a:rPr b="1" i="0" lang="en-US" sz="1400" u="none" cap="none" strike="noStrike">
                <a:solidFill>
                  <a:srgbClr val="1A2744"/>
                </a:solidFill>
                <a:latin typeface="Arial"/>
                <a:ea typeface="Arial"/>
                <a:cs typeface="Arial"/>
                <a:sym typeface="Arial"/>
              </a:rPr>
              <a:t>Mesh Extraction</a:t>
            </a:r>
            <a:endParaRPr b="0" i="0" sz="1400" u="none" cap="none" strike="noStrike">
              <a:solidFill>
                <a:schemeClr val="dk1"/>
              </a:solidFill>
              <a:latin typeface="Calibri"/>
              <a:ea typeface="Calibri"/>
              <a:cs typeface="Calibri"/>
              <a:sym typeface="Calibri"/>
            </a:endParaRPr>
          </a:p>
        </p:txBody>
      </p:sp>
      <p:sp>
        <p:nvSpPr>
          <p:cNvPr id="107" name="Google Shape;107;p6"/>
          <p:cNvSpPr/>
          <p:nvPr/>
        </p:nvSpPr>
        <p:spPr>
          <a:xfrm>
            <a:off x="1280160" y="4370832"/>
            <a:ext cx="7132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Mesh-in-the-loop methods (MILo et al.) differentiably extract metrically accurate triangulated meshes during 3D Gaussian Splatting optimization. Output: photorealistic splat + clean mesh for quantitative analysis.</a:t>
            </a:r>
            <a:endParaRPr b="0" i="0" sz="1000" u="none" cap="none" strike="noStrike">
              <a:solidFill>
                <a:schemeClr val="dk1"/>
              </a:solidFill>
              <a:latin typeface="Calibri"/>
              <a:ea typeface="Calibri"/>
              <a:cs typeface="Calibri"/>
              <a:sym typeface="Calibri"/>
            </a:endParaRPr>
          </a:p>
        </p:txBody>
      </p:sp>
      <p:sp>
        <p:nvSpPr>
          <p:cNvPr id="108" name="Google Shape;108;p6"/>
          <p:cNvSpPr/>
          <p:nvPr/>
        </p:nvSpPr>
        <p:spPr>
          <a:xfrm>
            <a:off x="457200" y="480060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88888"/>
              </a:buClr>
              <a:buSzPts val="1000"/>
              <a:buFont typeface="Calibri"/>
              <a:buNone/>
            </a:pPr>
            <a:r>
              <a:rPr b="0" i="1" lang="en-US" sz="1000" u="none" cap="none" strike="noStrike">
                <a:solidFill>
                  <a:srgbClr val="888888"/>
                </a:solidFill>
                <a:latin typeface="Calibri"/>
                <a:ea typeface="Calibri"/>
                <a:cs typeface="Calibri"/>
                <a:sym typeface="Calibri"/>
              </a:rPr>
              <a:t>All components are open-source and validated in the computer vision literature. The innovation is the integrated clinical platform.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7"/>
          <p:cNvSpPr/>
          <p:nvPr/>
        </p:nvSpPr>
        <p:spPr>
          <a:xfrm>
            <a:off x="0" y="0"/>
            <a:ext cx="9144000" cy="54864"/>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548640" y="22860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3400"/>
              <a:buFont typeface="Arial Black"/>
              <a:buNone/>
            </a:pPr>
            <a:r>
              <a:rPr b="1" i="0" lang="en-US" sz="3400" u="none" cap="none" strike="noStrike">
                <a:solidFill>
                  <a:srgbClr val="1A2744"/>
                </a:solidFill>
                <a:latin typeface="Arial Black"/>
                <a:ea typeface="Arial Black"/>
                <a:cs typeface="Arial Black"/>
                <a:sym typeface="Arial Black"/>
              </a:rPr>
              <a:t>Why 3D Gaussian Splatting?</a:t>
            </a:r>
            <a:endParaRPr b="0" i="0" sz="3400" u="none" cap="none" strike="noStrike">
              <a:solidFill>
                <a:schemeClr val="dk1"/>
              </a:solidFill>
              <a:latin typeface="Calibri"/>
              <a:ea typeface="Calibri"/>
              <a:cs typeface="Calibri"/>
              <a:sym typeface="Calibri"/>
            </a:endParaRPr>
          </a:p>
        </p:txBody>
      </p:sp>
      <p:sp>
        <p:nvSpPr>
          <p:cNvPr id="116" name="Google Shape;116;p7"/>
          <p:cNvSpPr/>
          <p:nvPr/>
        </p:nvSpPr>
        <p:spPr>
          <a:xfrm>
            <a:off x="548640" y="86868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200"/>
              <a:buFont typeface="Calibri"/>
              <a:buNone/>
            </a:pPr>
            <a:r>
              <a:rPr b="0" i="1" lang="en-US" sz="1200" u="none" cap="none" strike="noStrike">
                <a:solidFill>
                  <a:srgbClr val="555555"/>
                </a:solidFill>
                <a:latin typeface="Calibri"/>
                <a:ea typeface="Calibri"/>
                <a:cs typeface="Calibri"/>
                <a:sym typeface="Calibri"/>
              </a:rPr>
              <a:t>3D imaging exists. The representation choice determines what clinical information is preserved.</a:t>
            </a:r>
            <a:endParaRPr b="0" i="0" sz="1200" u="none" cap="none" strike="noStrike">
              <a:solidFill>
                <a:schemeClr val="dk1"/>
              </a:solidFill>
              <a:latin typeface="Calibri"/>
              <a:ea typeface="Calibri"/>
              <a:cs typeface="Calibri"/>
              <a:sym typeface="Calibri"/>
            </a:endParaRPr>
          </a:p>
        </p:txBody>
      </p:sp>
      <p:graphicFrame>
        <p:nvGraphicFramePr>
          <p:cNvPr id="117" name="Google Shape;117;p7"/>
          <p:cNvGraphicFramePr/>
          <p:nvPr/>
        </p:nvGraphicFramePr>
        <p:xfrm>
          <a:off x="457200" y="1280160"/>
          <a:ext cx="3000000" cy="3000000"/>
        </p:xfrm>
        <a:graphic>
          <a:graphicData uri="http://schemas.openxmlformats.org/drawingml/2006/table">
            <a:tbl>
              <a:tblPr>
                <a:noFill/>
                <a:tableStyleId>{B20988C8-D4E2-453B-A5AF-FD85294E0526}</a:tableStyleId>
              </a:tblPr>
              <a:tblGrid>
                <a:gridCol w="2926075"/>
                <a:gridCol w="1737350"/>
                <a:gridCol w="1783075"/>
                <a:gridCol w="1783075"/>
              </a:tblGrid>
              <a:tr h="365750">
                <a:tc>
                  <a:txBody>
                    <a:bodyPr/>
                    <a:lstStyle/>
                    <a:p>
                      <a:pPr indent="0" lvl="0" marL="0" marR="0" rtl="0" algn="l">
                        <a:spcBef>
                          <a:spcPts val="0"/>
                        </a:spcBef>
                        <a:spcAft>
                          <a:spcPts val="0"/>
                        </a:spcAft>
                        <a:buClr>
                          <a:schemeClr val="dk1"/>
                        </a:buClr>
                        <a:buSzPts val="1000"/>
                        <a:buFont typeface="Calibri"/>
                        <a:buNone/>
                      </a:pPr>
                      <a:r>
                        <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A2744"/>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2D Photo</a:t>
                      </a:r>
                      <a:endParaRPr sz="1000" u="none" cap="none" strike="noStrike">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(Current)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A2744"/>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Textured Mesh</a:t>
                      </a:r>
                      <a:endParaRPr sz="1000" u="none" cap="none" strike="noStrike">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(Vectra)</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A2744"/>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3DGS + Mesh</a:t>
                      </a:r>
                      <a:endParaRPr sz="1000" u="none" cap="none" strike="noStrike">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(Ours)</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A2744"/>
                    </a:solidFill>
                  </a:tcPr>
                </a:tc>
              </a:tr>
              <a:tr h="274325">
                <a:tc>
                  <a:txBody>
                    <a:bodyPr/>
                    <a:lstStyle/>
                    <a:p>
                      <a:pPr indent="0" lvl="0" marL="0" marR="0" rtl="0" algn="l">
                        <a:spcBef>
                          <a:spcPts val="0"/>
                        </a:spcBef>
                        <a:spcAft>
                          <a:spcPts val="0"/>
                        </a:spcAft>
                        <a:buClr>
                          <a:srgbClr val="1A2744"/>
                        </a:buClr>
                        <a:buSzPts val="1000"/>
                        <a:buFont typeface="Calibri"/>
                        <a:buNone/>
                      </a:pPr>
                      <a:r>
                        <a:rPr b="1" lang="en-US" sz="1000" u="none" cap="none" strike="noStrike">
                          <a:solidFill>
                            <a:srgbClr val="1A2744"/>
                          </a:solidFill>
                          <a:latin typeface="Calibri"/>
                          <a:ea typeface="Calibri"/>
                          <a:cs typeface="Calibri"/>
                          <a:sym typeface="Calibri"/>
                        </a:rPr>
                        <a:t>Multi-angle viewing</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c>
                  <a:txBody>
                    <a:bodyPr/>
                    <a:lstStyle/>
                    <a:p>
                      <a:pPr indent="0" lvl="0" marL="0" marR="0" rtl="0" algn="ctr">
                        <a:spcBef>
                          <a:spcPts val="0"/>
                        </a:spcBef>
                        <a:spcAft>
                          <a:spcPts val="0"/>
                        </a:spcAft>
                        <a:buClr>
                          <a:srgbClr val="CC4444"/>
                        </a:buClr>
                        <a:buSzPts val="1000"/>
                        <a:buFont typeface="Calibri"/>
                        <a:buNone/>
                      </a:pPr>
                      <a:r>
                        <a:rPr lang="en-US" sz="1000" u="none" cap="none" strike="noStrike">
                          <a:solidFill>
                            <a:srgbClr val="CC4444"/>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c>
                  <a:txBody>
                    <a:bodyPr/>
                    <a:lstStyle/>
                    <a:p>
                      <a:pPr indent="0" lvl="0" marL="0" marR="0" rtl="0" algn="ctr">
                        <a:spcBef>
                          <a:spcPts val="0"/>
                        </a:spcBef>
                        <a:spcAft>
                          <a:spcPts val="0"/>
                        </a:spcAft>
                        <a:buClr>
                          <a:srgbClr val="2E8B57"/>
                        </a:buClr>
                        <a:buSzPts val="1000"/>
                        <a:buFont typeface="Calibri"/>
                        <a:buNone/>
                      </a:pPr>
                      <a:r>
                        <a:rPr lang="en-US" sz="1000" u="none" cap="none" strike="noStrike">
                          <a:solidFill>
                            <a:srgbClr val="2E8B57"/>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c>
                  <a:txBody>
                    <a:bodyPr/>
                    <a:lstStyle/>
                    <a:p>
                      <a:pPr indent="0" lvl="0" marL="0" marR="0" rtl="0" algn="ctr">
                        <a:spcBef>
                          <a:spcPts val="0"/>
                        </a:spcBef>
                        <a:spcAft>
                          <a:spcPts val="0"/>
                        </a:spcAft>
                        <a:buClr>
                          <a:srgbClr val="2E8B57"/>
                        </a:buClr>
                        <a:buSzPts val="1000"/>
                        <a:buFont typeface="Calibri"/>
                        <a:buNone/>
                      </a:pPr>
                      <a:r>
                        <a:rPr lang="en-US" sz="1000" u="none" cap="none" strike="noStrike">
                          <a:solidFill>
                            <a:srgbClr val="2E8B57"/>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r>
              <a:tr h="274325">
                <a:tc>
                  <a:txBody>
                    <a:bodyPr/>
                    <a:lstStyle/>
                    <a:p>
                      <a:pPr indent="0" lvl="0" marL="0" marR="0" rtl="0" algn="l">
                        <a:spcBef>
                          <a:spcPts val="0"/>
                        </a:spcBef>
                        <a:spcAft>
                          <a:spcPts val="0"/>
                        </a:spcAft>
                        <a:buClr>
                          <a:srgbClr val="1A2744"/>
                        </a:buClr>
                        <a:buSzPts val="1000"/>
                        <a:buFont typeface="Calibri"/>
                        <a:buNone/>
                      </a:pPr>
                      <a:r>
                        <a:rPr b="1" lang="en-US" sz="1000" u="none" cap="none" strike="noStrike">
                          <a:solidFill>
                            <a:srgbClr val="1A2744"/>
                          </a:solidFill>
                          <a:latin typeface="Calibri"/>
                          <a:ea typeface="Calibri"/>
                          <a:cs typeface="Calibri"/>
                          <a:sym typeface="Calibri"/>
                        </a:rPr>
                        <a:t>Photorealistic appearance</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8B57"/>
                        </a:buClr>
                        <a:buSzPts val="1000"/>
                        <a:buFont typeface="Calibri"/>
                        <a:buNone/>
                      </a:pPr>
                      <a:r>
                        <a:rPr lang="en-US" sz="1000" u="none" cap="none" strike="noStrike">
                          <a:solidFill>
                            <a:srgbClr val="2E8B57"/>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B8860B"/>
                        </a:buClr>
                        <a:buSzPts val="1000"/>
                        <a:buFont typeface="Calibri"/>
                        <a:buNone/>
                      </a:pPr>
                      <a:r>
                        <a:rPr lang="en-US" sz="1000" u="none" cap="none" strike="noStrike">
                          <a:solidFill>
                            <a:srgbClr val="B8860B"/>
                          </a:solidFill>
                          <a:latin typeface="Calibri"/>
                          <a:ea typeface="Calibri"/>
                          <a:cs typeface="Calibri"/>
                          <a:sym typeface="Calibri"/>
                        </a:rPr>
                        <a:t>Limited</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8B57"/>
                        </a:buClr>
                        <a:buSzPts val="1000"/>
                        <a:buFont typeface="Calibri"/>
                        <a:buNone/>
                      </a:pPr>
                      <a:r>
                        <a:rPr lang="en-US" sz="1000" u="none" cap="none" strike="noStrike">
                          <a:solidFill>
                            <a:srgbClr val="2E8B57"/>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1A2744"/>
                        </a:buClr>
                        <a:buSzPts val="1000"/>
                        <a:buFont typeface="Calibri"/>
                        <a:buNone/>
                      </a:pPr>
                      <a:r>
                        <a:rPr b="1" lang="en-US" sz="1000" u="none" cap="none" strike="noStrike">
                          <a:solidFill>
                            <a:srgbClr val="1A2744"/>
                          </a:solidFill>
                          <a:latin typeface="Calibri"/>
                          <a:ea typeface="Calibri"/>
                          <a:cs typeface="Calibri"/>
                          <a:sym typeface="Calibri"/>
                        </a:rPr>
                        <a:t>View-dependent tissue appearance</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c>
                  <a:txBody>
                    <a:bodyPr/>
                    <a:lstStyle/>
                    <a:p>
                      <a:pPr indent="0" lvl="0" marL="0" marR="0" rtl="0" algn="ctr">
                        <a:spcBef>
                          <a:spcPts val="0"/>
                        </a:spcBef>
                        <a:spcAft>
                          <a:spcPts val="0"/>
                        </a:spcAft>
                        <a:buClr>
                          <a:srgbClr val="CC4444"/>
                        </a:buClr>
                        <a:buSzPts val="1000"/>
                        <a:buFont typeface="Calibri"/>
                        <a:buNone/>
                      </a:pPr>
                      <a:r>
                        <a:rPr lang="en-US" sz="1000" u="none" cap="none" strike="noStrike">
                          <a:solidFill>
                            <a:srgbClr val="CC4444"/>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c>
                  <a:txBody>
                    <a:bodyPr/>
                    <a:lstStyle/>
                    <a:p>
                      <a:pPr indent="0" lvl="0" marL="0" marR="0" rtl="0" algn="ctr">
                        <a:spcBef>
                          <a:spcPts val="0"/>
                        </a:spcBef>
                        <a:spcAft>
                          <a:spcPts val="0"/>
                        </a:spcAft>
                        <a:buClr>
                          <a:srgbClr val="CC4444"/>
                        </a:buClr>
                        <a:buSzPts val="1000"/>
                        <a:buFont typeface="Calibri"/>
                        <a:buNone/>
                      </a:pPr>
                      <a:r>
                        <a:rPr lang="en-US" sz="1000" u="none" cap="none" strike="noStrike">
                          <a:solidFill>
                            <a:srgbClr val="CC4444"/>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c>
                  <a:txBody>
                    <a:bodyPr/>
                    <a:lstStyle/>
                    <a:p>
                      <a:pPr indent="0" lvl="0" marL="0" marR="0" rtl="0" algn="ctr">
                        <a:spcBef>
                          <a:spcPts val="0"/>
                        </a:spcBef>
                        <a:spcAft>
                          <a:spcPts val="0"/>
                        </a:spcAft>
                        <a:buClr>
                          <a:srgbClr val="2E8B57"/>
                        </a:buClr>
                        <a:buSzPts val="1000"/>
                        <a:buFont typeface="Calibri"/>
                        <a:buNone/>
                      </a:pPr>
                      <a:r>
                        <a:rPr lang="en-US" sz="1000" u="none" cap="none" strike="noStrike">
                          <a:solidFill>
                            <a:srgbClr val="2E8B57"/>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r>
              <a:tr h="274325">
                <a:tc>
                  <a:txBody>
                    <a:bodyPr/>
                    <a:lstStyle/>
                    <a:p>
                      <a:pPr indent="0" lvl="0" marL="0" marR="0" rtl="0" algn="l">
                        <a:spcBef>
                          <a:spcPts val="0"/>
                        </a:spcBef>
                        <a:spcAft>
                          <a:spcPts val="0"/>
                        </a:spcAft>
                        <a:buClr>
                          <a:srgbClr val="1A2744"/>
                        </a:buClr>
                        <a:buSzPts val="1000"/>
                        <a:buFont typeface="Calibri"/>
                        <a:buNone/>
                      </a:pPr>
                      <a:r>
                        <a:rPr b="1" lang="en-US" sz="1000" u="none" cap="none" strike="noStrike">
                          <a:solidFill>
                            <a:srgbClr val="1A2744"/>
                          </a:solidFill>
                          <a:latin typeface="Calibri"/>
                          <a:ea typeface="Calibri"/>
                          <a:cs typeface="Calibri"/>
                          <a:sym typeface="Calibri"/>
                        </a:rPr>
                        <a:t>Metrically accurate surface mesh</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C4444"/>
                        </a:buClr>
                        <a:buSzPts val="1000"/>
                        <a:buFont typeface="Calibri"/>
                        <a:buNone/>
                      </a:pPr>
                      <a:r>
                        <a:rPr lang="en-US" sz="1000" u="none" cap="none" strike="noStrike">
                          <a:solidFill>
                            <a:srgbClr val="CC4444"/>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8B57"/>
                        </a:buClr>
                        <a:buSzPts val="1000"/>
                        <a:buFont typeface="Calibri"/>
                        <a:buNone/>
                      </a:pPr>
                      <a:r>
                        <a:rPr lang="en-US" sz="1000" u="none" cap="none" strike="noStrike">
                          <a:solidFill>
                            <a:srgbClr val="2E8B57"/>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8B57"/>
                        </a:buClr>
                        <a:buSzPts val="1000"/>
                        <a:buFont typeface="Calibri"/>
                        <a:buNone/>
                      </a:pPr>
                      <a:r>
                        <a:rPr lang="en-US" sz="1000" u="none" cap="none" strike="noStrike">
                          <a:solidFill>
                            <a:srgbClr val="2E8B57"/>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1A2744"/>
                        </a:buClr>
                        <a:buSzPts val="1000"/>
                        <a:buFont typeface="Calibri"/>
                        <a:buNone/>
                      </a:pPr>
                      <a:r>
                        <a:rPr b="1" lang="en-US" sz="1000" u="none" cap="none" strike="noStrike">
                          <a:solidFill>
                            <a:srgbClr val="1A2744"/>
                          </a:solidFill>
                          <a:latin typeface="Calibri"/>
                          <a:ea typeface="Calibri"/>
                          <a:cs typeface="Calibri"/>
                          <a:sym typeface="Calibri"/>
                        </a:rPr>
                        <a:t>Future relighting / normalization</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c>
                  <a:txBody>
                    <a:bodyPr/>
                    <a:lstStyle/>
                    <a:p>
                      <a:pPr indent="0" lvl="0" marL="0" marR="0" rtl="0" algn="ctr">
                        <a:spcBef>
                          <a:spcPts val="0"/>
                        </a:spcBef>
                        <a:spcAft>
                          <a:spcPts val="0"/>
                        </a:spcAft>
                        <a:buClr>
                          <a:srgbClr val="CC4444"/>
                        </a:buClr>
                        <a:buSzPts val="1000"/>
                        <a:buFont typeface="Calibri"/>
                        <a:buNone/>
                      </a:pPr>
                      <a:r>
                        <a:rPr lang="en-US" sz="1000" u="none" cap="none" strike="noStrike">
                          <a:solidFill>
                            <a:srgbClr val="CC4444"/>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c>
                  <a:txBody>
                    <a:bodyPr/>
                    <a:lstStyle/>
                    <a:p>
                      <a:pPr indent="0" lvl="0" marL="0" marR="0" rtl="0" algn="ctr">
                        <a:spcBef>
                          <a:spcPts val="0"/>
                        </a:spcBef>
                        <a:spcAft>
                          <a:spcPts val="0"/>
                        </a:spcAft>
                        <a:buClr>
                          <a:srgbClr val="CC4444"/>
                        </a:buClr>
                        <a:buSzPts val="1000"/>
                        <a:buFont typeface="Calibri"/>
                        <a:buNone/>
                      </a:pPr>
                      <a:r>
                        <a:rPr lang="en-US" sz="1000" u="none" cap="none" strike="noStrike">
                          <a:solidFill>
                            <a:srgbClr val="CC4444"/>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c>
                  <a:txBody>
                    <a:bodyPr/>
                    <a:lstStyle/>
                    <a:p>
                      <a:pPr indent="0" lvl="0" marL="0" marR="0" rtl="0" algn="ctr">
                        <a:spcBef>
                          <a:spcPts val="0"/>
                        </a:spcBef>
                        <a:spcAft>
                          <a:spcPts val="0"/>
                        </a:spcAft>
                        <a:buClr>
                          <a:srgbClr val="2E8B57"/>
                        </a:buClr>
                        <a:buSzPts val="1000"/>
                        <a:buFont typeface="Calibri"/>
                        <a:buNone/>
                      </a:pPr>
                      <a:r>
                        <a:rPr lang="en-US" sz="1000" u="none" cap="none" strike="noStrike">
                          <a:solidFill>
                            <a:srgbClr val="2E8B57"/>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r>
              <a:tr h="274325">
                <a:tc>
                  <a:txBody>
                    <a:bodyPr/>
                    <a:lstStyle/>
                    <a:p>
                      <a:pPr indent="0" lvl="0" marL="0" marR="0" rtl="0" algn="l">
                        <a:spcBef>
                          <a:spcPts val="0"/>
                        </a:spcBef>
                        <a:spcAft>
                          <a:spcPts val="0"/>
                        </a:spcAft>
                        <a:buClr>
                          <a:srgbClr val="1A2744"/>
                        </a:buClr>
                        <a:buSzPts val="1000"/>
                        <a:buFont typeface="Calibri"/>
                        <a:buNone/>
                      </a:pPr>
                      <a:r>
                        <a:rPr b="1" lang="en-US" sz="1000" u="none" cap="none" strike="noStrike">
                          <a:solidFill>
                            <a:srgbClr val="1A2744"/>
                          </a:solidFill>
                          <a:latin typeface="Calibri"/>
                          <a:ea typeface="Calibri"/>
                          <a:cs typeface="Calibri"/>
                          <a:sym typeface="Calibri"/>
                        </a:rPr>
                        <a:t>Supports ML / digital twin</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C4444"/>
                        </a:buClr>
                        <a:buSzPts val="1000"/>
                        <a:buFont typeface="Calibri"/>
                        <a:buNone/>
                      </a:pPr>
                      <a:r>
                        <a:rPr lang="en-US" sz="1000" u="none" cap="none" strike="noStrike">
                          <a:solidFill>
                            <a:srgbClr val="CC4444"/>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B8860B"/>
                        </a:buClr>
                        <a:buSzPts val="1000"/>
                        <a:buFont typeface="Calibri"/>
                        <a:buNone/>
                      </a:pPr>
                      <a:r>
                        <a:rPr lang="en-US" sz="1000" u="none" cap="none" strike="noStrike">
                          <a:solidFill>
                            <a:srgbClr val="B8860B"/>
                          </a:solidFill>
                          <a:latin typeface="Calibri"/>
                          <a:ea typeface="Calibri"/>
                          <a:cs typeface="Calibri"/>
                          <a:sym typeface="Calibri"/>
                        </a:rPr>
                        <a:t>Limited</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8B57"/>
                        </a:buClr>
                        <a:buSzPts val="1000"/>
                        <a:buFont typeface="Calibri"/>
                        <a:buNone/>
                      </a:pPr>
                      <a:r>
                        <a:rPr lang="en-US" sz="1000" u="none" cap="none" strike="noStrike">
                          <a:solidFill>
                            <a:srgbClr val="2E8B57"/>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1A2744"/>
                        </a:buClr>
                        <a:buSzPts val="1000"/>
                        <a:buFont typeface="Calibri"/>
                        <a:buNone/>
                      </a:pPr>
                      <a:r>
                        <a:rPr b="1" lang="en-US" sz="1000" u="none" cap="none" strike="noStrike">
                          <a:solidFill>
                            <a:srgbClr val="1A2744"/>
                          </a:solidFill>
                          <a:latin typeface="Calibri"/>
                          <a:ea typeface="Calibri"/>
                          <a:cs typeface="Calibri"/>
                          <a:sym typeface="Calibri"/>
                        </a:rPr>
                        <a:t>Smartphone only (no hardware)</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c>
                  <a:txBody>
                    <a:bodyPr/>
                    <a:lstStyle/>
                    <a:p>
                      <a:pPr indent="0" lvl="0" marL="0" marR="0" rtl="0" algn="ctr">
                        <a:spcBef>
                          <a:spcPts val="0"/>
                        </a:spcBef>
                        <a:spcAft>
                          <a:spcPts val="0"/>
                        </a:spcAft>
                        <a:buClr>
                          <a:srgbClr val="2E8B57"/>
                        </a:buClr>
                        <a:buSzPts val="1000"/>
                        <a:buFont typeface="Calibri"/>
                        <a:buNone/>
                      </a:pPr>
                      <a:r>
                        <a:rPr lang="en-US" sz="1000" u="none" cap="none" strike="noStrike">
                          <a:solidFill>
                            <a:srgbClr val="2E8B57"/>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c>
                  <a:txBody>
                    <a:bodyPr/>
                    <a:lstStyle/>
                    <a:p>
                      <a:pPr indent="0" lvl="0" marL="0" marR="0" rtl="0" algn="ctr">
                        <a:spcBef>
                          <a:spcPts val="0"/>
                        </a:spcBef>
                        <a:spcAft>
                          <a:spcPts val="0"/>
                        </a:spcAft>
                        <a:buClr>
                          <a:srgbClr val="CC4444"/>
                        </a:buClr>
                        <a:buSzPts val="1000"/>
                        <a:buFont typeface="Calibri"/>
                        <a:buNone/>
                      </a:pPr>
                      <a:r>
                        <a:rPr lang="en-US" sz="1000" u="none" cap="none" strike="noStrike">
                          <a:solidFill>
                            <a:srgbClr val="CC4444"/>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c>
                  <a:txBody>
                    <a:bodyPr/>
                    <a:lstStyle/>
                    <a:p>
                      <a:pPr indent="0" lvl="0" marL="0" marR="0" rtl="0" algn="ctr">
                        <a:spcBef>
                          <a:spcPts val="0"/>
                        </a:spcBef>
                        <a:spcAft>
                          <a:spcPts val="0"/>
                        </a:spcAft>
                        <a:buClr>
                          <a:srgbClr val="2E8B57"/>
                        </a:buClr>
                        <a:buSzPts val="1000"/>
                        <a:buFont typeface="Calibri"/>
                        <a:buNone/>
                      </a:pPr>
                      <a:r>
                        <a:rPr lang="en-US" sz="1000" u="none" cap="none" strike="noStrike">
                          <a:solidFill>
                            <a:srgbClr val="2E8B57"/>
                          </a:solidFill>
                          <a:latin typeface="Calibri"/>
                          <a:ea typeface="Calibri"/>
                          <a:cs typeface="Calibri"/>
                          <a:sym typeface="Calibri"/>
                        </a:rPr>
                        <a: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5F8FA"/>
                    </a:solidFill>
                  </a:tcPr>
                </a:tc>
              </a:tr>
              <a:tr h="274325">
                <a:tc>
                  <a:txBody>
                    <a:bodyPr/>
                    <a:lstStyle/>
                    <a:p>
                      <a:pPr indent="0" lvl="0" marL="0" marR="0" rtl="0" algn="l">
                        <a:spcBef>
                          <a:spcPts val="0"/>
                        </a:spcBef>
                        <a:spcAft>
                          <a:spcPts val="0"/>
                        </a:spcAft>
                        <a:buClr>
                          <a:srgbClr val="1A2744"/>
                        </a:buClr>
                        <a:buSzPts val="1000"/>
                        <a:buFont typeface="Calibri"/>
                        <a:buNone/>
                      </a:pPr>
                      <a:r>
                        <a:rPr b="1" lang="en-US" sz="1000" u="none" cap="none" strike="noStrike">
                          <a:solidFill>
                            <a:srgbClr val="1A2744"/>
                          </a:solidFill>
                          <a:latin typeface="Calibri"/>
                          <a:ea typeface="Calibri"/>
                          <a:cs typeface="Calibri"/>
                          <a:sym typeface="Calibri"/>
                        </a:rPr>
                        <a:t>Hardware cost</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744"/>
                        </a:buClr>
                        <a:buSzPts val="1000"/>
                        <a:buFont typeface="Calibri"/>
                        <a:buNone/>
                      </a:pPr>
                      <a:r>
                        <a:rPr lang="en-US" sz="1000" u="none" cap="none" strike="noStrike">
                          <a:solidFill>
                            <a:srgbClr val="1A2744"/>
                          </a:solidFill>
                          <a:latin typeface="Calibri"/>
                          <a:ea typeface="Calibri"/>
                          <a:cs typeface="Calibri"/>
                          <a:sym typeface="Calibri"/>
                        </a:rPr>
                        <a:t>$0</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744"/>
                        </a:buClr>
                        <a:buSzPts val="1000"/>
                        <a:buFont typeface="Calibri"/>
                        <a:buNone/>
                      </a:pPr>
                      <a:r>
                        <a:rPr lang="en-US" sz="1000" u="none" cap="none" strike="noStrike">
                          <a:solidFill>
                            <a:srgbClr val="1A2744"/>
                          </a:solidFill>
                          <a:latin typeface="Calibri"/>
                          <a:ea typeface="Calibri"/>
                          <a:cs typeface="Calibri"/>
                          <a:sym typeface="Calibri"/>
                        </a:rPr>
                        <a:t>$20–$50K+</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744"/>
                        </a:buClr>
                        <a:buSzPts val="1000"/>
                        <a:buFont typeface="Calibri"/>
                        <a:buNone/>
                      </a:pPr>
                      <a:r>
                        <a:rPr lang="en-US" sz="1000" u="none" cap="none" strike="noStrike">
                          <a:solidFill>
                            <a:srgbClr val="1A2744"/>
                          </a:solidFill>
                          <a:latin typeface="Calibri"/>
                          <a:ea typeface="Calibri"/>
                          <a:cs typeface="Calibri"/>
                          <a:sym typeface="Calibri"/>
                        </a:rPr>
                        <a:t>$0</a:t>
                      </a:r>
                      <a:endParaRPr sz="1000" u="none" cap="none" strike="noStrike">
                        <a:latin typeface="Calibri"/>
                        <a:ea typeface="Calibri"/>
                        <a:cs typeface="Calibri"/>
                        <a:sym typeface="Calibri"/>
                      </a:endParaRPr>
                    </a:p>
                  </a:txBody>
                  <a:tcPr marT="38100" marB="38100" marR="63500" marL="635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FFFFFF"/>
                    </a:solidFill>
                  </a:tcPr>
                </a:tc>
              </a:tr>
            </a:tbl>
          </a:graphicData>
        </a:graphic>
      </p:graphicFrame>
      <p:sp>
        <p:nvSpPr>
          <p:cNvPr id="118" name="Google Shape;118;p7"/>
          <p:cNvSpPr/>
          <p:nvPr/>
        </p:nvSpPr>
        <p:spPr>
          <a:xfrm>
            <a:off x="457200" y="411480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1000"/>
              <a:buFont typeface="Calibri"/>
              <a:buNone/>
            </a:pPr>
            <a:r>
              <a:rPr b="1" i="0" lang="en-US" sz="1000" u="none" cap="none" strike="noStrike">
                <a:solidFill>
                  <a:srgbClr val="1A2744"/>
                </a:solidFill>
                <a:latin typeface="Calibri"/>
                <a:ea typeface="Calibri"/>
                <a:cs typeface="Calibri"/>
                <a:sym typeface="Calibri"/>
              </a:rPr>
              <a:t>The technical distinction: </a:t>
            </a:r>
            <a:r>
              <a:rPr b="0" i="0" lang="en-US" sz="1000" u="none" cap="none" strike="noStrike">
                <a:solidFill>
                  <a:srgbClr val="444444"/>
                </a:solidFill>
                <a:latin typeface="Calibri"/>
                <a:ea typeface="Calibri"/>
                <a:cs typeface="Calibri"/>
                <a:sym typeface="Calibri"/>
              </a:rPr>
              <a:t>3D Gaussian Splatting (3DGS) encodes view-dependent radiance via spherical harmonics on volumetric primitives. This preserves how light interacts with tissue at each viewing angle (specular sheen, translucency, scar reflectance) that textured meshes discard by design. Paired with mesh extraction, we keep both the photorealistic splat and the clean geometric mesh.</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8"/>
          <p:cNvSpPr/>
          <p:nvPr/>
        </p:nvSpPr>
        <p:spPr>
          <a:xfrm>
            <a:off x="0" y="0"/>
            <a:ext cx="9144000" cy="54864"/>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548640" y="228600"/>
            <a:ext cx="7315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3600"/>
              <a:buFont typeface="Arial Black"/>
              <a:buNone/>
            </a:pPr>
            <a:r>
              <a:rPr b="1" i="0" lang="en-US" sz="3600" u="none" cap="none" strike="noStrike">
                <a:solidFill>
                  <a:srgbClr val="1A2744"/>
                </a:solidFill>
                <a:latin typeface="Arial Black"/>
                <a:ea typeface="Arial Black"/>
                <a:cs typeface="Arial Black"/>
                <a:sym typeface="Arial Black"/>
              </a:rPr>
              <a:t>What It Enables Today</a:t>
            </a:r>
            <a:endParaRPr b="0" i="0" sz="3600" u="none" cap="none" strike="noStrike">
              <a:solidFill>
                <a:schemeClr val="dk1"/>
              </a:solidFill>
              <a:latin typeface="Calibri"/>
              <a:ea typeface="Calibri"/>
              <a:cs typeface="Calibri"/>
              <a:sym typeface="Calibri"/>
            </a:endParaRPr>
          </a:p>
        </p:txBody>
      </p:sp>
      <p:sp>
        <p:nvSpPr>
          <p:cNvPr id="126" name="Google Shape;126;p8"/>
          <p:cNvSpPr/>
          <p:nvPr/>
        </p:nvSpPr>
        <p:spPr>
          <a:xfrm>
            <a:off x="457200" y="1051560"/>
            <a:ext cx="3977640" cy="178308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457200" y="1051560"/>
            <a:ext cx="54864" cy="1783080"/>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8" name="Google Shape;128;p8"/>
          <p:cNvPicPr preferRelativeResize="0"/>
          <p:nvPr/>
        </p:nvPicPr>
        <p:blipFill rotWithShape="1">
          <a:blip r:embed="rId3">
            <a:alphaModFix/>
          </a:blip>
          <a:srcRect b="0" l="0" r="0" t="0"/>
          <a:stretch/>
        </p:blipFill>
        <p:spPr>
          <a:xfrm>
            <a:off x="685800" y="1216152"/>
            <a:ext cx="347472" cy="347472"/>
          </a:xfrm>
          <a:prstGeom prst="rect">
            <a:avLst/>
          </a:prstGeom>
          <a:noFill/>
          <a:ln>
            <a:noFill/>
          </a:ln>
        </p:spPr>
      </p:pic>
      <p:sp>
        <p:nvSpPr>
          <p:cNvPr id="129" name="Google Shape;129;p8"/>
          <p:cNvSpPr/>
          <p:nvPr/>
        </p:nvSpPr>
        <p:spPr>
          <a:xfrm>
            <a:off x="1143000" y="1161288"/>
            <a:ext cx="3063240"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A2744"/>
              </a:buClr>
              <a:buSzPts val="1300"/>
              <a:buFont typeface="Arial"/>
              <a:buNone/>
            </a:pPr>
            <a:r>
              <a:rPr b="1" i="0" lang="en-US" sz="1300" u="none" cap="none" strike="noStrike">
                <a:solidFill>
                  <a:srgbClr val="1A2744"/>
                </a:solidFill>
                <a:latin typeface="Arial"/>
                <a:ea typeface="Arial"/>
                <a:cs typeface="Arial"/>
                <a:sym typeface="Arial"/>
              </a:rPr>
              <a:t>Surgical Planning &amp;</a:t>
            </a:r>
            <a:endParaRPr b="0" i="0" sz="13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1A2744"/>
              </a:buClr>
              <a:buSzPts val="1300"/>
              <a:buFont typeface="Arial"/>
              <a:buNone/>
            </a:pPr>
            <a:r>
              <a:rPr b="1" i="0" lang="en-US" sz="1300" u="none" cap="none" strike="noStrike">
                <a:solidFill>
                  <a:srgbClr val="1A2744"/>
                </a:solidFill>
                <a:latin typeface="Arial"/>
                <a:ea typeface="Arial"/>
                <a:cs typeface="Arial"/>
                <a:sym typeface="Arial"/>
              </a:rPr>
              <a:t>Assessment</a:t>
            </a:r>
            <a:endParaRPr b="0" i="0" sz="1300" u="none" cap="none" strike="noStrike">
              <a:solidFill>
                <a:schemeClr val="dk1"/>
              </a:solidFill>
              <a:latin typeface="Calibri"/>
              <a:ea typeface="Calibri"/>
              <a:cs typeface="Calibri"/>
              <a:sym typeface="Calibri"/>
            </a:endParaRPr>
          </a:p>
        </p:txBody>
      </p:sp>
      <p:sp>
        <p:nvSpPr>
          <p:cNvPr id="130" name="Google Shape;130;p8"/>
          <p:cNvSpPr/>
          <p:nvPr/>
        </p:nvSpPr>
        <p:spPr>
          <a:xfrm>
            <a:off x="685800" y="1737360"/>
            <a:ext cx="3520440" cy="9601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Examine contour, projection, and symmetry from any angle. Tissue expansion, flap design, breast reconstruction, and scar revision. Applications where plastic surgery uniquely requires precision 2D cannot provide.</a:t>
            </a:r>
            <a:endParaRPr b="0" i="0" sz="1000" u="none" cap="none" strike="noStrike">
              <a:solidFill>
                <a:schemeClr val="dk1"/>
              </a:solidFill>
              <a:latin typeface="Calibri"/>
              <a:ea typeface="Calibri"/>
              <a:cs typeface="Calibri"/>
              <a:sym typeface="Calibri"/>
            </a:endParaRPr>
          </a:p>
        </p:txBody>
      </p:sp>
      <p:sp>
        <p:nvSpPr>
          <p:cNvPr id="131" name="Google Shape;131;p8"/>
          <p:cNvSpPr/>
          <p:nvPr/>
        </p:nvSpPr>
        <p:spPr>
          <a:xfrm>
            <a:off x="4709160" y="1051560"/>
            <a:ext cx="3977640" cy="178308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4709160" y="1051560"/>
            <a:ext cx="54864" cy="1783080"/>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3" name="Google Shape;133;p8"/>
          <p:cNvPicPr preferRelativeResize="0"/>
          <p:nvPr/>
        </p:nvPicPr>
        <p:blipFill rotWithShape="1">
          <a:blip r:embed="rId4">
            <a:alphaModFix/>
          </a:blip>
          <a:srcRect b="0" l="0" r="0" t="0"/>
          <a:stretch/>
        </p:blipFill>
        <p:spPr>
          <a:xfrm>
            <a:off x="4937760" y="1216152"/>
            <a:ext cx="347472" cy="347472"/>
          </a:xfrm>
          <a:prstGeom prst="rect">
            <a:avLst/>
          </a:prstGeom>
          <a:noFill/>
          <a:ln>
            <a:noFill/>
          </a:ln>
        </p:spPr>
      </p:pic>
      <p:sp>
        <p:nvSpPr>
          <p:cNvPr id="134" name="Google Shape;134;p8"/>
          <p:cNvSpPr/>
          <p:nvPr/>
        </p:nvSpPr>
        <p:spPr>
          <a:xfrm>
            <a:off x="5394960" y="1161288"/>
            <a:ext cx="3063240"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A2744"/>
              </a:buClr>
              <a:buSzPts val="1300"/>
              <a:buFont typeface="Arial"/>
              <a:buNone/>
            </a:pPr>
            <a:r>
              <a:rPr b="1" i="0" lang="en-US" sz="1300" u="none" cap="none" strike="noStrike">
                <a:solidFill>
                  <a:srgbClr val="1A2744"/>
                </a:solidFill>
                <a:latin typeface="Arial"/>
                <a:ea typeface="Arial"/>
                <a:cs typeface="Arial"/>
                <a:sym typeface="Arial"/>
              </a:rPr>
              <a:t>Remote Consultation &amp;</a:t>
            </a:r>
            <a:endParaRPr b="0" i="0" sz="13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1A2744"/>
              </a:buClr>
              <a:buSzPts val="1300"/>
              <a:buFont typeface="Arial"/>
              <a:buNone/>
            </a:pPr>
            <a:r>
              <a:rPr b="1" i="0" lang="en-US" sz="1300" u="none" cap="none" strike="noStrike">
                <a:solidFill>
                  <a:srgbClr val="1A2744"/>
                </a:solidFill>
                <a:latin typeface="Arial"/>
                <a:ea typeface="Arial"/>
                <a:cs typeface="Arial"/>
                <a:sym typeface="Arial"/>
              </a:rPr>
              <a:t>Collaboration</a:t>
            </a:r>
            <a:endParaRPr b="0" i="0" sz="1300" u="none" cap="none" strike="noStrike">
              <a:solidFill>
                <a:schemeClr val="dk1"/>
              </a:solidFill>
              <a:latin typeface="Calibri"/>
              <a:ea typeface="Calibri"/>
              <a:cs typeface="Calibri"/>
              <a:sym typeface="Calibri"/>
            </a:endParaRPr>
          </a:p>
        </p:txBody>
      </p:sp>
      <p:sp>
        <p:nvSpPr>
          <p:cNvPr id="135" name="Google Shape;135;p8"/>
          <p:cNvSpPr/>
          <p:nvPr/>
        </p:nvSpPr>
        <p:spPr>
          <a:xfrm>
            <a:off x="4937760" y="1737360"/>
            <a:ext cx="3520440" cy="9601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A consulting surgeon examines anatomy interactively from their preferred angles, not from a single photo. Transforms tumor boards, multidisciplinary conferences, and telemedicine.</a:t>
            </a:r>
            <a:endParaRPr b="0" i="0" sz="1000" u="none" cap="none" strike="noStrike">
              <a:solidFill>
                <a:schemeClr val="dk1"/>
              </a:solidFill>
              <a:latin typeface="Calibri"/>
              <a:ea typeface="Calibri"/>
              <a:cs typeface="Calibri"/>
              <a:sym typeface="Calibri"/>
            </a:endParaRPr>
          </a:p>
        </p:txBody>
      </p:sp>
      <p:sp>
        <p:nvSpPr>
          <p:cNvPr id="136" name="Google Shape;136;p8"/>
          <p:cNvSpPr/>
          <p:nvPr/>
        </p:nvSpPr>
        <p:spPr>
          <a:xfrm>
            <a:off x="457200" y="3017520"/>
            <a:ext cx="3977640" cy="178308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457200" y="3017520"/>
            <a:ext cx="54864" cy="1783080"/>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8" name="Google Shape;138;p8"/>
          <p:cNvPicPr preferRelativeResize="0"/>
          <p:nvPr/>
        </p:nvPicPr>
        <p:blipFill rotWithShape="1">
          <a:blip r:embed="rId5">
            <a:alphaModFix/>
          </a:blip>
          <a:srcRect b="0" l="0" r="0" t="0"/>
          <a:stretch/>
        </p:blipFill>
        <p:spPr>
          <a:xfrm>
            <a:off x="685800" y="3182112"/>
            <a:ext cx="347472" cy="347472"/>
          </a:xfrm>
          <a:prstGeom prst="rect">
            <a:avLst/>
          </a:prstGeom>
          <a:noFill/>
          <a:ln>
            <a:noFill/>
          </a:ln>
        </p:spPr>
      </p:pic>
      <p:sp>
        <p:nvSpPr>
          <p:cNvPr id="139" name="Google Shape;139;p8"/>
          <p:cNvSpPr/>
          <p:nvPr/>
        </p:nvSpPr>
        <p:spPr>
          <a:xfrm>
            <a:off x="1143000" y="3127248"/>
            <a:ext cx="3063240"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A2744"/>
              </a:buClr>
              <a:buSzPts val="1300"/>
              <a:buFont typeface="Arial"/>
              <a:buNone/>
            </a:pPr>
            <a:r>
              <a:rPr b="1" i="0" lang="en-US" sz="1300" u="none" cap="none" strike="noStrike">
                <a:solidFill>
                  <a:srgbClr val="1A2744"/>
                </a:solidFill>
                <a:latin typeface="Arial"/>
                <a:ea typeface="Arial"/>
                <a:cs typeface="Arial"/>
                <a:sym typeface="Arial"/>
              </a:rPr>
              <a:t>Medicolegal Documentation</a:t>
            </a:r>
            <a:endParaRPr b="0" i="0" sz="1300" u="none" cap="none" strike="noStrike">
              <a:solidFill>
                <a:schemeClr val="dk1"/>
              </a:solidFill>
              <a:latin typeface="Calibri"/>
              <a:ea typeface="Calibri"/>
              <a:cs typeface="Calibri"/>
              <a:sym typeface="Calibri"/>
            </a:endParaRPr>
          </a:p>
        </p:txBody>
      </p:sp>
      <p:sp>
        <p:nvSpPr>
          <p:cNvPr id="140" name="Google Shape;140;p8"/>
          <p:cNvSpPr/>
          <p:nvPr/>
        </p:nvSpPr>
        <p:spPr>
          <a:xfrm>
            <a:off x="685800" y="3703320"/>
            <a:ext cx="3520440" cy="9601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A 3D reconstruction is a more comprehensive, defensible record of pre- and post-operative anatomy than a single-angle 2D photograph. Protects the surgeon and the patient.</a:t>
            </a:r>
            <a:endParaRPr b="0" i="0" sz="1000" u="none" cap="none" strike="noStrike">
              <a:solidFill>
                <a:schemeClr val="dk1"/>
              </a:solidFill>
              <a:latin typeface="Calibri"/>
              <a:ea typeface="Calibri"/>
              <a:cs typeface="Calibri"/>
              <a:sym typeface="Calibri"/>
            </a:endParaRPr>
          </a:p>
        </p:txBody>
      </p:sp>
      <p:sp>
        <p:nvSpPr>
          <p:cNvPr id="141" name="Google Shape;141;p8"/>
          <p:cNvSpPr/>
          <p:nvPr/>
        </p:nvSpPr>
        <p:spPr>
          <a:xfrm>
            <a:off x="4709160" y="3017520"/>
            <a:ext cx="3977640" cy="178308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4709160" y="3017520"/>
            <a:ext cx="54864" cy="1783080"/>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3" name="Google Shape;143;p8"/>
          <p:cNvPicPr preferRelativeResize="0"/>
          <p:nvPr/>
        </p:nvPicPr>
        <p:blipFill rotWithShape="1">
          <a:blip r:embed="rId6">
            <a:alphaModFix/>
          </a:blip>
          <a:srcRect b="0" l="0" r="0" t="0"/>
          <a:stretch/>
        </p:blipFill>
        <p:spPr>
          <a:xfrm>
            <a:off x="4937760" y="3182112"/>
            <a:ext cx="347472" cy="347472"/>
          </a:xfrm>
          <a:prstGeom prst="rect">
            <a:avLst/>
          </a:prstGeom>
          <a:noFill/>
          <a:ln>
            <a:noFill/>
          </a:ln>
        </p:spPr>
      </p:pic>
      <p:sp>
        <p:nvSpPr>
          <p:cNvPr id="144" name="Google Shape;144;p8"/>
          <p:cNvSpPr/>
          <p:nvPr/>
        </p:nvSpPr>
        <p:spPr>
          <a:xfrm>
            <a:off x="5394960" y="3127248"/>
            <a:ext cx="3063240"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A2744"/>
              </a:buClr>
              <a:buSzPts val="1300"/>
              <a:buFont typeface="Arial"/>
              <a:buNone/>
            </a:pPr>
            <a:r>
              <a:rPr b="1" i="0" lang="en-US" sz="1300" u="none" cap="none" strike="noStrike">
                <a:solidFill>
                  <a:srgbClr val="1A2744"/>
                </a:solidFill>
                <a:latin typeface="Arial"/>
                <a:ea typeface="Arial"/>
                <a:cs typeface="Arial"/>
                <a:sym typeface="Arial"/>
              </a:rPr>
              <a:t>Resident &amp; Medical Education</a:t>
            </a:r>
            <a:endParaRPr b="0" i="0" sz="1300" u="none" cap="none" strike="noStrike">
              <a:solidFill>
                <a:schemeClr val="dk1"/>
              </a:solidFill>
              <a:latin typeface="Calibri"/>
              <a:ea typeface="Calibri"/>
              <a:cs typeface="Calibri"/>
              <a:sym typeface="Calibri"/>
            </a:endParaRPr>
          </a:p>
        </p:txBody>
      </p:sp>
      <p:sp>
        <p:nvSpPr>
          <p:cNvPr id="145" name="Google Shape;145;p8"/>
          <p:cNvSpPr/>
          <p:nvPr/>
        </p:nvSpPr>
        <p:spPr>
          <a:xfrm>
            <a:off x="4937760" y="3703320"/>
            <a:ext cx="3520440" cy="9601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An interactive 3D case library is categorically richer for teaching surgical anatomy, flap design, and outcomes assessment than a slideshow of flat photographs.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9"/>
          <p:cNvSpPr/>
          <p:nvPr/>
        </p:nvSpPr>
        <p:spPr>
          <a:xfrm>
            <a:off x="0" y="0"/>
            <a:ext cx="9144000" cy="54864"/>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p:nvPr/>
        </p:nvSpPr>
        <p:spPr>
          <a:xfrm>
            <a:off x="548640" y="13716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3400"/>
              <a:buFont typeface="Arial Black"/>
              <a:buNone/>
            </a:pPr>
            <a:r>
              <a:rPr b="1" i="0" lang="en-US" sz="3400" u="none" cap="none" strike="noStrike">
                <a:solidFill>
                  <a:srgbClr val="1A2744"/>
                </a:solidFill>
                <a:latin typeface="Arial Black"/>
                <a:ea typeface="Arial Black"/>
                <a:cs typeface="Arial Black"/>
                <a:sym typeface="Arial Black"/>
              </a:rPr>
              <a:t>Future-Proofing Documentation</a:t>
            </a:r>
            <a:endParaRPr b="0" i="0" sz="3400" u="none" cap="none" strike="noStrike">
              <a:solidFill>
                <a:schemeClr val="dk1"/>
              </a:solidFill>
              <a:latin typeface="Calibri"/>
              <a:ea typeface="Calibri"/>
              <a:cs typeface="Calibri"/>
              <a:sym typeface="Calibri"/>
            </a:endParaRPr>
          </a:p>
        </p:txBody>
      </p:sp>
      <p:sp>
        <p:nvSpPr>
          <p:cNvPr id="153" name="Google Shape;153;p9"/>
          <p:cNvSpPr/>
          <p:nvPr/>
        </p:nvSpPr>
        <p:spPr>
          <a:xfrm>
            <a:off x="548640" y="749808"/>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55555"/>
              </a:buClr>
              <a:buSzPts val="1100"/>
              <a:buFont typeface="Calibri"/>
              <a:buNone/>
            </a:pPr>
            <a:r>
              <a:rPr b="0" i="1" lang="en-US" sz="1100" u="none" cap="none" strike="noStrike">
                <a:solidFill>
                  <a:srgbClr val="555555"/>
                </a:solidFill>
                <a:latin typeface="Calibri"/>
                <a:ea typeface="Calibri"/>
                <a:cs typeface="Calibri"/>
                <a:sym typeface="Calibri"/>
              </a:rPr>
              <a:t>As computational tools mature, the field will need high-fidelity 3D data that doesn’t exist yet. The time to start building that archive is now.</a:t>
            </a:r>
            <a:endParaRPr b="0" i="0" sz="1100" u="none" cap="none" strike="noStrike">
              <a:solidFill>
                <a:schemeClr val="dk1"/>
              </a:solidFill>
              <a:latin typeface="Calibri"/>
              <a:ea typeface="Calibri"/>
              <a:cs typeface="Calibri"/>
              <a:sym typeface="Calibri"/>
            </a:endParaRPr>
          </a:p>
        </p:txBody>
      </p:sp>
      <p:sp>
        <p:nvSpPr>
          <p:cNvPr id="154" name="Google Shape;154;p9"/>
          <p:cNvSpPr/>
          <p:nvPr/>
        </p:nvSpPr>
        <p:spPr>
          <a:xfrm>
            <a:off x="457200" y="1234440"/>
            <a:ext cx="3977640" cy="169164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9"/>
          <p:cNvSpPr/>
          <p:nvPr/>
        </p:nvSpPr>
        <p:spPr>
          <a:xfrm>
            <a:off x="457200" y="1234440"/>
            <a:ext cx="54864" cy="1691640"/>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6" name="Google Shape;156;p9"/>
          <p:cNvPicPr preferRelativeResize="0"/>
          <p:nvPr/>
        </p:nvPicPr>
        <p:blipFill rotWithShape="1">
          <a:blip r:embed="rId3">
            <a:alphaModFix/>
          </a:blip>
          <a:srcRect b="0" l="0" r="0" t="0"/>
          <a:stretch/>
        </p:blipFill>
        <p:spPr>
          <a:xfrm>
            <a:off x="685800" y="1371600"/>
            <a:ext cx="320040" cy="320040"/>
          </a:xfrm>
          <a:prstGeom prst="rect">
            <a:avLst/>
          </a:prstGeom>
          <a:noFill/>
          <a:ln>
            <a:noFill/>
          </a:ln>
        </p:spPr>
      </p:pic>
      <p:sp>
        <p:nvSpPr>
          <p:cNvPr id="157" name="Google Shape;157;p9"/>
          <p:cNvSpPr/>
          <p:nvPr/>
        </p:nvSpPr>
        <p:spPr>
          <a:xfrm>
            <a:off x="1115568" y="1325880"/>
            <a:ext cx="306324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A2744"/>
              </a:buClr>
              <a:buSzPts val="1300"/>
              <a:buFont typeface="Arial"/>
              <a:buNone/>
            </a:pPr>
            <a:r>
              <a:rPr b="1" i="0" lang="en-US" sz="1300" u="none" cap="none" strike="noStrike">
                <a:solidFill>
                  <a:srgbClr val="1A2744"/>
                </a:solidFill>
                <a:latin typeface="Arial"/>
                <a:ea typeface="Arial"/>
                <a:cs typeface="Arial"/>
                <a:sym typeface="Arial"/>
              </a:rPr>
              <a:t>Standardized Relighting</a:t>
            </a:r>
            <a:endParaRPr b="0" i="0" sz="1300" u="none" cap="none" strike="noStrike">
              <a:solidFill>
                <a:schemeClr val="dk1"/>
              </a:solidFill>
              <a:latin typeface="Calibri"/>
              <a:ea typeface="Calibri"/>
              <a:cs typeface="Calibri"/>
              <a:sym typeface="Calibri"/>
            </a:endParaRPr>
          </a:p>
        </p:txBody>
      </p:sp>
      <p:sp>
        <p:nvSpPr>
          <p:cNvPr id="158" name="Google Shape;158;p9"/>
          <p:cNvSpPr/>
          <p:nvPr/>
        </p:nvSpPr>
        <p:spPr>
          <a:xfrm>
            <a:off x="685800" y="1828800"/>
            <a:ext cx="3520440" cy="9601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Retroactively normalize illumination across time points. Compare OR photos and 1-year post-op home photos under identical virtual lighting, eliminating the #1 confound in outcomes research.</a:t>
            </a:r>
            <a:endParaRPr b="0" i="0" sz="1000" u="none" cap="none" strike="noStrike">
              <a:solidFill>
                <a:schemeClr val="dk1"/>
              </a:solidFill>
              <a:latin typeface="Calibri"/>
              <a:ea typeface="Calibri"/>
              <a:cs typeface="Calibri"/>
              <a:sym typeface="Calibri"/>
            </a:endParaRPr>
          </a:p>
        </p:txBody>
      </p:sp>
      <p:sp>
        <p:nvSpPr>
          <p:cNvPr id="159" name="Google Shape;159;p9"/>
          <p:cNvSpPr/>
          <p:nvPr/>
        </p:nvSpPr>
        <p:spPr>
          <a:xfrm>
            <a:off x="4709160" y="1234440"/>
            <a:ext cx="3977640" cy="169164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4709160" y="1234440"/>
            <a:ext cx="54864" cy="1691640"/>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1" name="Google Shape;161;p9"/>
          <p:cNvPicPr preferRelativeResize="0"/>
          <p:nvPr/>
        </p:nvPicPr>
        <p:blipFill rotWithShape="1">
          <a:blip r:embed="rId4">
            <a:alphaModFix/>
          </a:blip>
          <a:srcRect b="0" l="0" r="0" t="0"/>
          <a:stretch/>
        </p:blipFill>
        <p:spPr>
          <a:xfrm>
            <a:off x="4937760" y="1371600"/>
            <a:ext cx="320040" cy="320040"/>
          </a:xfrm>
          <a:prstGeom prst="rect">
            <a:avLst/>
          </a:prstGeom>
          <a:noFill/>
          <a:ln>
            <a:noFill/>
          </a:ln>
        </p:spPr>
      </p:pic>
      <p:sp>
        <p:nvSpPr>
          <p:cNvPr id="162" name="Google Shape;162;p9"/>
          <p:cNvSpPr/>
          <p:nvPr/>
        </p:nvSpPr>
        <p:spPr>
          <a:xfrm>
            <a:off x="5367528" y="1325880"/>
            <a:ext cx="306324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A2744"/>
              </a:buClr>
              <a:buSzPts val="1300"/>
              <a:buFont typeface="Arial"/>
              <a:buNone/>
            </a:pPr>
            <a:r>
              <a:rPr b="1" i="0" lang="en-US" sz="1300" u="none" cap="none" strike="noStrike">
                <a:solidFill>
                  <a:srgbClr val="1A2744"/>
                </a:solidFill>
                <a:latin typeface="Arial"/>
                <a:ea typeface="Arial"/>
                <a:cs typeface="Arial"/>
                <a:sym typeface="Arial"/>
              </a:rPr>
              <a:t>Machine Learning Readiness</a:t>
            </a:r>
            <a:endParaRPr b="0" i="0" sz="1300" u="none" cap="none" strike="noStrike">
              <a:solidFill>
                <a:schemeClr val="dk1"/>
              </a:solidFill>
              <a:latin typeface="Calibri"/>
              <a:ea typeface="Calibri"/>
              <a:cs typeface="Calibri"/>
              <a:sym typeface="Calibri"/>
            </a:endParaRPr>
          </a:p>
        </p:txBody>
      </p:sp>
      <p:sp>
        <p:nvSpPr>
          <p:cNvPr id="163" name="Google Shape;163;p9"/>
          <p:cNvSpPr/>
          <p:nvPr/>
        </p:nvSpPr>
        <p:spPr>
          <a:xfrm>
            <a:off x="4937760" y="1828800"/>
            <a:ext cx="3520440" cy="9601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When AI tools for flap perfusion, wound classification, or outcome prediction are ready, the imaging data to train and test them will already exist. 3DGS archives would provide geometrically consistent, appearance-rich inputs that 2D photos cannot.</a:t>
            </a:r>
            <a:endParaRPr b="0" i="0" sz="1000" u="none" cap="none" strike="noStrike">
              <a:solidFill>
                <a:schemeClr val="dk1"/>
              </a:solidFill>
              <a:latin typeface="Calibri"/>
              <a:ea typeface="Calibri"/>
              <a:cs typeface="Calibri"/>
              <a:sym typeface="Calibri"/>
            </a:endParaRPr>
          </a:p>
        </p:txBody>
      </p:sp>
      <p:sp>
        <p:nvSpPr>
          <p:cNvPr id="164" name="Google Shape;164;p9"/>
          <p:cNvSpPr/>
          <p:nvPr/>
        </p:nvSpPr>
        <p:spPr>
          <a:xfrm>
            <a:off x="457200" y="3063240"/>
            <a:ext cx="3977640" cy="169164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457200" y="3063240"/>
            <a:ext cx="54864" cy="1691640"/>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 name="Google Shape;166;p9"/>
          <p:cNvPicPr preferRelativeResize="0"/>
          <p:nvPr/>
        </p:nvPicPr>
        <p:blipFill rotWithShape="1">
          <a:blip r:embed="rId5">
            <a:alphaModFix/>
          </a:blip>
          <a:srcRect b="0" l="0" r="0" t="0"/>
          <a:stretch/>
        </p:blipFill>
        <p:spPr>
          <a:xfrm>
            <a:off x="685800" y="3200400"/>
            <a:ext cx="320040" cy="320040"/>
          </a:xfrm>
          <a:prstGeom prst="rect">
            <a:avLst/>
          </a:prstGeom>
          <a:noFill/>
          <a:ln>
            <a:noFill/>
          </a:ln>
        </p:spPr>
      </p:pic>
      <p:sp>
        <p:nvSpPr>
          <p:cNvPr id="167" name="Google Shape;167;p9"/>
          <p:cNvSpPr/>
          <p:nvPr/>
        </p:nvSpPr>
        <p:spPr>
          <a:xfrm>
            <a:off x="1115568" y="3154680"/>
            <a:ext cx="306324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A2744"/>
              </a:buClr>
              <a:buSzPts val="1300"/>
              <a:buFont typeface="Arial"/>
              <a:buNone/>
            </a:pPr>
            <a:r>
              <a:rPr b="1" i="0" lang="en-US" sz="1300" u="none" cap="none" strike="noStrike">
                <a:solidFill>
                  <a:srgbClr val="1A2744"/>
                </a:solidFill>
                <a:latin typeface="Arial"/>
                <a:ea typeface="Arial"/>
                <a:cs typeface="Arial"/>
                <a:sym typeface="Arial"/>
              </a:rPr>
              <a:t>Digital Twinning &amp; Virtual</a:t>
            </a:r>
            <a:endParaRPr b="0" i="0" sz="13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1A2744"/>
              </a:buClr>
              <a:buSzPts val="1300"/>
              <a:buFont typeface="Arial"/>
              <a:buNone/>
            </a:pPr>
            <a:r>
              <a:rPr b="1" i="0" lang="en-US" sz="1300" u="none" cap="none" strike="noStrike">
                <a:solidFill>
                  <a:srgbClr val="1A2744"/>
                </a:solidFill>
                <a:latin typeface="Arial"/>
                <a:ea typeface="Arial"/>
                <a:cs typeface="Arial"/>
                <a:sym typeface="Arial"/>
              </a:rPr>
              <a:t>Planning</a:t>
            </a:r>
            <a:endParaRPr b="0" i="0" sz="1300" u="none" cap="none" strike="noStrike">
              <a:solidFill>
                <a:schemeClr val="dk1"/>
              </a:solidFill>
              <a:latin typeface="Calibri"/>
              <a:ea typeface="Calibri"/>
              <a:cs typeface="Calibri"/>
              <a:sym typeface="Calibri"/>
            </a:endParaRPr>
          </a:p>
        </p:txBody>
      </p:sp>
      <p:sp>
        <p:nvSpPr>
          <p:cNvPr id="168" name="Google Shape;168;p9"/>
          <p:cNvSpPr/>
          <p:nvPr/>
        </p:nvSpPr>
        <p:spPr>
          <a:xfrm>
            <a:off x="685800" y="3657600"/>
            <a:ext cx="3520440" cy="9601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Mesh extraction from 3DGS archives enables finite element-based simulation of flap behavior, tissue expansion outcomes, and aesthetic contour changes. Extends virtual surgical planning from craniofacial bone into the soft tissue domain.</a:t>
            </a:r>
            <a:endParaRPr b="0" i="0" sz="1000" u="none" cap="none" strike="noStrike">
              <a:solidFill>
                <a:schemeClr val="dk1"/>
              </a:solidFill>
              <a:latin typeface="Calibri"/>
              <a:ea typeface="Calibri"/>
              <a:cs typeface="Calibri"/>
              <a:sym typeface="Calibri"/>
            </a:endParaRPr>
          </a:p>
        </p:txBody>
      </p:sp>
      <p:sp>
        <p:nvSpPr>
          <p:cNvPr id="169" name="Google Shape;169;p9"/>
          <p:cNvSpPr/>
          <p:nvPr/>
        </p:nvSpPr>
        <p:spPr>
          <a:xfrm>
            <a:off x="4709160" y="3063240"/>
            <a:ext cx="3977640" cy="169164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p:nvPr/>
        </p:nvSpPr>
        <p:spPr>
          <a:xfrm>
            <a:off x="4709160" y="3063240"/>
            <a:ext cx="54864" cy="1691640"/>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1" name="Google Shape;171;p9"/>
          <p:cNvPicPr preferRelativeResize="0"/>
          <p:nvPr/>
        </p:nvPicPr>
        <p:blipFill rotWithShape="1">
          <a:blip r:embed="rId6">
            <a:alphaModFix/>
          </a:blip>
          <a:srcRect b="0" l="0" r="0" t="0"/>
          <a:stretch/>
        </p:blipFill>
        <p:spPr>
          <a:xfrm>
            <a:off x="4937760" y="3200400"/>
            <a:ext cx="320040" cy="320040"/>
          </a:xfrm>
          <a:prstGeom prst="rect">
            <a:avLst/>
          </a:prstGeom>
          <a:noFill/>
          <a:ln>
            <a:noFill/>
          </a:ln>
        </p:spPr>
      </p:pic>
      <p:sp>
        <p:nvSpPr>
          <p:cNvPr id="172" name="Google Shape;172;p9"/>
          <p:cNvSpPr/>
          <p:nvPr/>
        </p:nvSpPr>
        <p:spPr>
          <a:xfrm>
            <a:off x="5367528" y="3154680"/>
            <a:ext cx="306324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A2744"/>
              </a:buClr>
              <a:buSzPts val="1300"/>
              <a:buFont typeface="Arial"/>
              <a:buNone/>
            </a:pPr>
            <a:r>
              <a:rPr b="1" i="0" lang="en-US" sz="1300" u="none" cap="none" strike="noStrike">
                <a:solidFill>
                  <a:srgbClr val="1A2744"/>
                </a:solidFill>
                <a:latin typeface="Arial"/>
                <a:ea typeface="Arial"/>
                <a:cs typeface="Arial"/>
                <a:sym typeface="Arial"/>
              </a:rPr>
              <a:t>Quantitative Surface</a:t>
            </a:r>
            <a:endParaRPr b="0" i="0" sz="13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1A2744"/>
              </a:buClr>
              <a:buSzPts val="1300"/>
              <a:buFont typeface="Arial"/>
              <a:buNone/>
            </a:pPr>
            <a:r>
              <a:rPr b="1" i="0" lang="en-US" sz="1300" u="none" cap="none" strike="noStrike">
                <a:solidFill>
                  <a:srgbClr val="1A2744"/>
                </a:solidFill>
                <a:latin typeface="Arial"/>
                <a:ea typeface="Arial"/>
                <a:cs typeface="Arial"/>
                <a:sym typeface="Arial"/>
              </a:rPr>
              <a:t>Measurement</a:t>
            </a:r>
            <a:endParaRPr b="0" i="0" sz="1300" u="none" cap="none" strike="noStrike">
              <a:solidFill>
                <a:schemeClr val="dk1"/>
              </a:solidFill>
              <a:latin typeface="Calibri"/>
              <a:ea typeface="Calibri"/>
              <a:cs typeface="Calibri"/>
              <a:sym typeface="Calibri"/>
            </a:endParaRPr>
          </a:p>
        </p:txBody>
      </p:sp>
      <p:sp>
        <p:nvSpPr>
          <p:cNvPr id="173" name="Google Shape;173;p9"/>
          <p:cNvSpPr/>
          <p:nvPr/>
        </p:nvSpPr>
        <p:spPr>
          <a:xfrm>
            <a:off x="4937760" y="3657600"/>
            <a:ext cx="3520440" cy="9601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Area, volume, curvature, and strain extracted from archived reconstructions without new data capture. As mesh extraction algorithms improve, retrospective analysis capability grows automatically.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0"/>
          <p:cNvSpPr/>
          <p:nvPr/>
        </p:nvSpPr>
        <p:spPr>
          <a:xfrm>
            <a:off x="0" y="0"/>
            <a:ext cx="9144000" cy="54864"/>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548640" y="228600"/>
            <a:ext cx="7315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3600"/>
              <a:buFont typeface="Arial Black"/>
              <a:buNone/>
            </a:pPr>
            <a:r>
              <a:rPr b="1" i="0" lang="en-US" sz="3600" u="none" cap="none" strike="noStrike">
                <a:solidFill>
                  <a:srgbClr val="1A2744"/>
                </a:solidFill>
                <a:latin typeface="Arial Black"/>
                <a:ea typeface="Arial Black"/>
                <a:cs typeface="Arial Black"/>
                <a:sym typeface="Arial Black"/>
              </a:rPr>
              <a:t>Validation Plan &amp; Roadmap</a:t>
            </a:r>
            <a:endParaRPr b="0" i="0" sz="3600" u="none" cap="none" strike="noStrike">
              <a:solidFill>
                <a:schemeClr val="dk1"/>
              </a:solidFill>
              <a:latin typeface="Calibri"/>
              <a:ea typeface="Calibri"/>
              <a:cs typeface="Calibri"/>
              <a:sym typeface="Calibri"/>
            </a:endParaRPr>
          </a:p>
        </p:txBody>
      </p:sp>
      <p:sp>
        <p:nvSpPr>
          <p:cNvPr id="181" name="Google Shape;181;p10"/>
          <p:cNvSpPr/>
          <p:nvPr/>
        </p:nvSpPr>
        <p:spPr>
          <a:xfrm>
            <a:off x="457200" y="1097280"/>
            <a:ext cx="8229600" cy="109728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p:nvPr/>
        </p:nvSpPr>
        <p:spPr>
          <a:xfrm>
            <a:off x="457200" y="1097280"/>
            <a:ext cx="54864" cy="1097280"/>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p:nvPr/>
        </p:nvSpPr>
        <p:spPr>
          <a:xfrm>
            <a:off x="685800" y="1234440"/>
            <a:ext cx="1005840" cy="320040"/>
          </a:xfrm>
          <a:prstGeom prst="rect">
            <a:avLst/>
          </a:prstGeom>
          <a:solidFill>
            <a:srgbClr val="1A2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p:nvPr/>
        </p:nvSpPr>
        <p:spPr>
          <a:xfrm>
            <a:off x="685800" y="1234440"/>
            <a:ext cx="10058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Phase 1</a:t>
            </a:r>
            <a:endParaRPr b="0" i="0" sz="1100" u="none" cap="none" strike="noStrike">
              <a:solidFill>
                <a:schemeClr val="dk1"/>
              </a:solidFill>
              <a:latin typeface="Calibri"/>
              <a:ea typeface="Calibri"/>
              <a:cs typeface="Calibri"/>
              <a:sym typeface="Calibri"/>
            </a:endParaRPr>
          </a:p>
        </p:txBody>
      </p:sp>
      <p:sp>
        <p:nvSpPr>
          <p:cNvPr id="185" name="Google Shape;185;p10"/>
          <p:cNvSpPr/>
          <p:nvPr/>
        </p:nvSpPr>
        <p:spPr>
          <a:xfrm>
            <a:off x="1828800" y="1188720"/>
            <a:ext cx="5029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1600"/>
              <a:buFont typeface="Arial"/>
              <a:buNone/>
            </a:pPr>
            <a:r>
              <a:rPr b="1" i="0" lang="en-US" sz="1600" u="none" cap="none" strike="noStrike">
                <a:solidFill>
                  <a:srgbClr val="1A2744"/>
                </a:solidFill>
                <a:latin typeface="Arial"/>
                <a:ea typeface="Arial"/>
                <a:cs typeface="Arial"/>
                <a:sym typeface="Arial"/>
              </a:rPr>
              <a:t>Validation Study</a:t>
            </a:r>
            <a:endParaRPr b="0" i="0" sz="1600" u="none" cap="none" strike="noStrike">
              <a:solidFill>
                <a:schemeClr val="dk1"/>
              </a:solidFill>
              <a:latin typeface="Calibri"/>
              <a:ea typeface="Calibri"/>
              <a:cs typeface="Calibri"/>
              <a:sym typeface="Calibri"/>
            </a:endParaRPr>
          </a:p>
        </p:txBody>
      </p:sp>
      <p:sp>
        <p:nvSpPr>
          <p:cNvPr id="186" name="Google Shape;186;p10"/>
          <p:cNvSpPr/>
          <p:nvPr/>
        </p:nvSpPr>
        <p:spPr>
          <a:xfrm>
            <a:off x="7132320" y="1188720"/>
            <a:ext cx="13716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48C9D"/>
              </a:buClr>
              <a:buSzPts val="1200"/>
              <a:buFont typeface="Calibri"/>
              <a:buNone/>
            </a:pPr>
            <a:r>
              <a:rPr b="1" i="0" lang="en-US" sz="1200" u="none" cap="none" strike="noStrike">
                <a:solidFill>
                  <a:srgbClr val="148C9D"/>
                </a:solidFill>
                <a:latin typeface="Calibri"/>
                <a:ea typeface="Calibri"/>
                <a:cs typeface="Calibri"/>
                <a:sym typeface="Calibri"/>
              </a:rPr>
              <a:t>Months 1–6</a:t>
            </a:r>
            <a:endParaRPr b="0" i="0" sz="1200" u="none" cap="none" strike="noStrike">
              <a:solidFill>
                <a:schemeClr val="dk1"/>
              </a:solidFill>
              <a:latin typeface="Calibri"/>
              <a:ea typeface="Calibri"/>
              <a:cs typeface="Calibri"/>
              <a:sym typeface="Calibri"/>
            </a:endParaRPr>
          </a:p>
        </p:txBody>
      </p:sp>
      <p:sp>
        <p:nvSpPr>
          <p:cNvPr id="187" name="Google Shape;187;p10"/>
          <p:cNvSpPr/>
          <p:nvPr/>
        </p:nvSpPr>
        <p:spPr>
          <a:xfrm>
            <a:off x="1828800" y="1554480"/>
            <a:ext cx="6675120" cy="5486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Compare 3D Gaussian Splatting-derived meshes against the Canfield Vectra H2 and an established multi-view stereo pipeline in a porcine tissue expansion model. Inform acquisition protocols, quality thresholds, and appropriate clinical use cases.</a:t>
            </a:r>
            <a:endParaRPr b="0" i="0" sz="1000" u="none" cap="none" strike="noStrike">
              <a:solidFill>
                <a:schemeClr val="dk1"/>
              </a:solidFill>
              <a:latin typeface="Calibri"/>
              <a:ea typeface="Calibri"/>
              <a:cs typeface="Calibri"/>
              <a:sym typeface="Calibri"/>
            </a:endParaRPr>
          </a:p>
        </p:txBody>
      </p:sp>
      <p:sp>
        <p:nvSpPr>
          <p:cNvPr id="188" name="Google Shape;188;p10"/>
          <p:cNvSpPr/>
          <p:nvPr/>
        </p:nvSpPr>
        <p:spPr>
          <a:xfrm>
            <a:off x="457200" y="2377440"/>
            <a:ext cx="8229600" cy="109728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
          <p:cNvSpPr/>
          <p:nvPr/>
        </p:nvSpPr>
        <p:spPr>
          <a:xfrm>
            <a:off x="457200" y="2377440"/>
            <a:ext cx="54864" cy="1097280"/>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p:nvPr/>
        </p:nvSpPr>
        <p:spPr>
          <a:xfrm>
            <a:off x="685800" y="2514600"/>
            <a:ext cx="1005840" cy="320040"/>
          </a:xfrm>
          <a:prstGeom prst="rect">
            <a:avLst/>
          </a:prstGeom>
          <a:solidFill>
            <a:srgbClr val="1A2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p:nvPr/>
        </p:nvSpPr>
        <p:spPr>
          <a:xfrm>
            <a:off x="685800" y="2514600"/>
            <a:ext cx="10058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Phase 2</a:t>
            </a:r>
            <a:endParaRPr b="0" i="0" sz="1100" u="none" cap="none" strike="noStrike">
              <a:solidFill>
                <a:schemeClr val="dk1"/>
              </a:solidFill>
              <a:latin typeface="Calibri"/>
              <a:ea typeface="Calibri"/>
              <a:cs typeface="Calibri"/>
              <a:sym typeface="Calibri"/>
            </a:endParaRPr>
          </a:p>
        </p:txBody>
      </p:sp>
      <p:sp>
        <p:nvSpPr>
          <p:cNvPr id="192" name="Google Shape;192;p10"/>
          <p:cNvSpPr/>
          <p:nvPr/>
        </p:nvSpPr>
        <p:spPr>
          <a:xfrm>
            <a:off x="1828800" y="2468880"/>
            <a:ext cx="5029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1600"/>
              <a:buFont typeface="Arial"/>
              <a:buNone/>
            </a:pPr>
            <a:r>
              <a:rPr b="1" i="0" lang="en-US" sz="1600" u="none" cap="none" strike="noStrike">
                <a:solidFill>
                  <a:srgbClr val="1A2744"/>
                </a:solidFill>
                <a:latin typeface="Arial"/>
                <a:ea typeface="Arial"/>
                <a:cs typeface="Arial"/>
                <a:sym typeface="Arial"/>
              </a:rPr>
              <a:t>Platform Development</a:t>
            </a:r>
            <a:endParaRPr b="0" i="0" sz="1600" u="none" cap="none" strike="noStrike">
              <a:solidFill>
                <a:schemeClr val="dk1"/>
              </a:solidFill>
              <a:latin typeface="Calibri"/>
              <a:ea typeface="Calibri"/>
              <a:cs typeface="Calibri"/>
              <a:sym typeface="Calibri"/>
            </a:endParaRPr>
          </a:p>
        </p:txBody>
      </p:sp>
      <p:sp>
        <p:nvSpPr>
          <p:cNvPr id="193" name="Google Shape;193;p10"/>
          <p:cNvSpPr/>
          <p:nvPr/>
        </p:nvSpPr>
        <p:spPr>
          <a:xfrm>
            <a:off x="7132320" y="2468880"/>
            <a:ext cx="13716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48C9D"/>
              </a:buClr>
              <a:buSzPts val="1200"/>
              <a:buFont typeface="Calibri"/>
              <a:buNone/>
            </a:pPr>
            <a:r>
              <a:rPr b="1" i="0" lang="en-US" sz="1200" u="none" cap="none" strike="noStrike">
                <a:solidFill>
                  <a:srgbClr val="148C9D"/>
                </a:solidFill>
                <a:latin typeface="Calibri"/>
                <a:ea typeface="Calibri"/>
                <a:cs typeface="Calibri"/>
                <a:sym typeface="Calibri"/>
              </a:rPr>
              <a:t>Months 6–12</a:t>
            </a:r>
            <a:endParaRPr b="0" i="0" sz="1200" u="none" cap="none" strike="noStrike">
              <a:solidFill>
                <a:schemeClr val="dk1"/>
              </a:solidFill>
              <a:latin typeface="Calibri"/>
              <a:ea typeface="Calibri"/>
              <a:cs typeface="Calibri"/>
              <a:sym typeface="Calibri"/>
            </a:endParaRPr>
          </a:p>
        </p:txBody>
      </p:sp>
      <p:sp>
        <p:nvSpPr>
          <p:cNvPr id="194" name="Google Shape;194;p10"/>
          <p:cNvSpPr/>
          <p:nvPr/>
        </p:nvSpPr>
        <p:spPr>
          <a:xfrm>
            <a:off x="1828800" y="2834640"/>
            <a:ext cx="6675120" cy="5486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HIPAA-compliant capture app, cloud archival, web-based 3D viewer, Electronic Health Record integration via SMART on FHIR. Informed by Phase 1 workflow findings.</a:t>
            </a:r>
            <a:endParaRPr b="0" i="0" sz="1000" u="none" cap="none" strike="noStrike">
              <a:solidFill>
                <a:schemeClr val="dk1"/>
              </a:solidFill>
              <a:latin typeface="Calibri"/>
              <a:ea typeface="Calibri"/>
              <a:cs typeface="Calibri"/>
              <a:sym typeface="Calibri"/>
            </a:endParaRPr>
          </a:p>
        </p:txBody>
      </p:sp>
      <p:sp>
        <p:nvSpPr>
          <p:cNvPr id="195" name="Google Shape;195;p10"/>
          <p:cNvSpPr/>
          <p:nvPr/>
        </p:nvSpPr>
        <p:spPr>
          <a:xfrm>
            <a:off x="457200" y="3657600"/>
            <a:ext cx="8229600" cy="1097280"/>
          </a:xfrm>
          <a:prstGeom prst="rect">
            <a:avLst/>
          </a:prstGeom>
          <a:solidFill>
            <a:srgbClr val="E5EFF5"/>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457200" y="3657600"/>
            <a:ext cx="54864" cy="1097280"/>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
          <p:cNvSpPr/>
          <p:nvPr/>
        </p:nvSpPr>
        <p:spPr>
          <a:xfrm>
            <a:off x="685800" y="3794760"/>
            <a:ext cx="1005840" cy="320040"/>
          </a:xfrm>
          <a:prstGeom prst="rect">
            <a:avLst/>
          </a:prstGeom>
          <a:solidFill>
            <a:srgbClr val="1A2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
          <p:cNvSpPr/>
          <p:nvPr/>
        </p:nvSpPr>
        <p:spPr>
          <a:xfrm>
            <a:off x="685800" y="3794760"/>
            <a:ext cx="10058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Phase 3</a:t>
            </a:r>
            <a:endParaRPr b="0" i="0" sz="1100" u="none" cap="none" strike="noStrike">
              <a:solidFill>
                <a:schemeClr val="dk1"/>
              </a:solidFill>
              <a:latin typeface="Calibri"/>
              <a:ea typeface="Calibri"/>
              <a:cs typeface="Calibri"/>
              <a:sym typeface="Calibri"/>
            </a:endParaRPr>
          </a:p>
        </p:txBody>
      </p:sp>
      <p:sp>
        <p:nvSpPr>
          <p:cNvPr id="199" name="Google Shape;199;p10"/>
          <p:cNvSpPr/>
          <p:nvPr/>
        </p:nvSpPr>
        <p:spPr>
          <a:xfrm>
            <a:off x="1828800" y="3749040"/>
            <a:ext cx="5029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744"/>
              </a:buClr>
              <a:buSzPts val="1600"/>
              <a:buFont typeface="Arial"/>
              <a:buNone/>
            </a:pPr>
            <a:r>
              <a:rPr b="1" i="0" lang="en-US" sz="1600" u="none" cap="none" strike="noStrike">
                <a:solidFill>
                  <a:srgbClr val="1A2744"/>
                </a:solidFill>
                <a:latin typeface="Arial"/>
                <a:ea typeface="Arial"/>
                <a:cs typeface="Arial"/>
                <a:sym typeface="Arial"/>
              </a:rPr>
              <a:t>Clinical Pilot &amp; Data Collection</a:t>
            </a:r>
            <a:endParaRPr b="0" i="0" sz="1600" u="none" cap="none" strike="noStrike">
              <a:solidFill>
                <a:schemeClr val="dk1"/>
              </a:solidFill>
              <a:latin typeface="Calibri"/>
              <a:ea typeface="Calibri"/>
              <a:cs typeface="Calibri"/>
              <a:sym typeface="Calibri"/>
            </a:endParaRPr>
          </a:p>
        </p:txBody>
      </p:sp>
      <p:sp>
        <p:nvSpPr>
          <p:cNvPr id="200" name="Google Shape;200;p10"/>
          <p:cNvSpPr/>
          <p:nvPr/>
        </p:nvSpPr>
        <p:spPr>
          <a:xfrm>
            <a:off x="7132320" y="3749040"/>
            <a:ext cx="13716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48C9D"/>
              </a:buClr>
              <a:buSzPts val="1200"/>
              <a:buFont typeface="Calibri"/>
              <a:buNone/>
            </a:pPr>
            <a:r>
              <a:rPr b="1" i="0" lang="en-US" sz="1200" u="none" cap="none" strike="noStrike">
                <a:solidFill>
                  <a:srgbClr val="148C9D"/>
                </a:solidFill>
                <a:latin typeface="Calibri"/>
                <a:ea typeface="Calibri"/>
                <a:cs typeface="Calibri"/>
                <a:sym typeface="Calibri"/>
              </a:rPr>
              <a:t>Months 12–18</a:t>
            </a:r>
            <a:endParaRPr b="0" i="0" sz="1200" u="none" cap="none" strike="noStrike">
              <a:solidFill>
                <a:schemeClr val="dk1"/>
              </a:solidFill>
              <a:latin typeface="Calibri"/>
              <a:ea typeface="Calibri"/>
              <a:cs typeface="Calibri"/>
              <a:sym typeface="Calibri"/>
            </a:endParaRPr>
          </a:p>
        </p:txBody>
      </p:sp>
      <p:sp>
        <p:nvSpPr>
          <p:cNvPr id="201" name="Google Shape;201;p10"/>
          <p:cNvSpPr/>
          <p:nvPr/>
        </p:nvSpPr>
        <p:spPr>
          <a:xfrm>
            <a:off x="1828800" y="4114800"/>
            <a:ext cx="6675120" cy="5486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44444"/>
              </a:buClr>
              <a:buSzPts val="1000"/>
              <a:buFont typeface="Calibri"/>
              <a:buNone/>
            </a:pPr>
            <a:r>
              <a:rPr b="0" i="0" lang="en-US" sz="1000" u="none" cap="none" strike="noStrike">
                <a:solidFill>
                  <a:srgbClr val="444444"/>
                </a:solidFill>
                <a:latin typeface="Calibri"/>
                <a:ea typeface="Calibri"/>
                <a:cs typeface="Calibri"/>
                <a:sym typeface="Calibri"/>
              </a:rPr>
              <a:t>Prospective deployment across reconstructive cases. Begin building longitudinal 3D outcomes archive. Demonstrate workflow feasibility at scale.</a:t>
            </a:r>
            <a:endParaRPr b="0" i="0" sz="1000" u="none" cap="none" strike="noStrike">
              <a:solidFill>
                <a:schemeClr val="dk1"/>
              </a:solidFill>
              <a:latin typeface="Calibri"/>
              <a:ea typeface="Calibri"/>
              <a:cs typeface="Calibri"/>
              <a:sym typeface="Calibri"/>
            </a:endParaRPr>
          </a:p>
        </p:txBody>
      </p:sp>
      <p:sp>
        <p:nvSpPr>
          <p:cNvPr id="202" name="Google Shape;202;p10"/>
          <p:cNvSpPr/>
          <p:nvPr/>
        </p:nvSpPr>
        <p:spPr>
          <a:xfrm>
            <a:off x="457200" y="475488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5C3E"/>
              </a:buClr>
              <a:buSzPts val="1200"/>
              <a:buFont typeface="Calibri"/>
              <a:buNone/>
            </a:pPr>
            <a:r>
              <a:rPr b="1" i="0" lang="en-US" sz="1200" u="none" cap="none" strike="noStrike">
                <a:solidFill>
                  <a:srgbClr val="D85C3E"/>
                </a:solidFill>
                <a:latin typeface="Calibri"/>
                <a:ea typeface="Calibri"/>
                <a:cs typeface="Calibri"/>
                <a:sym typeface="Calibri"/>
              </a:rPr>
              <a:t>Prize funding would significantly accelerate the platform build and the integration of validation data.</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744"/>
        </a:solidFill>
      </p:bgPr>
    </p:bg>
    <p:spTree>
      <p:nvGrpSpPr>
        <p:cNvPr id="207" name="Shape 207"/>
        <p:cNvGrpSpPr/>
        <p:nvPr/>
      </p:nvGrpSpPr>
      <p:grpSpPr>
        <a:xfrm>
          <a:off x="0" y="0"/>
          <a:ext cx="0" cy="0"/>
          <a:chOff x="0" y="0"/>
          <a:chExt cx="0" cy="0"/>
        </a:xfrm>
      </p:grpSpPr>
      <p:sp>
        <p:nvSpPr>
          <p:cNvPr id="208" name="Google Shape;208;p11"/>
          <p:cNvSpPr/>
          <p:nvPr/>
        </p:nvSpPr>
        <p:spPr>
          <a:xfrm>
            <a:off x="0" y="0"/>
            <a:ext cx="9144000" cy="54864"/>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9" name="Google Shape;209;p11"/>
          <p:cNvPicPr preferRelativeResize="0"/>
          <p:nvPr/>
        </p:nvPicPr>
        <p:blipFill rotWithShape="1">
          <a:blip r:embed="rId3">
            <a:alphaModFix/>
          </a:blip>
          <a:srcRect b="0" l="0" r="0" t="0"/>
          <a:stretch/>
        </p:blipFill>
        <p:spPr>
          <a:xfrm>
            <a:off x="3931920" y="274320"/>
            <a:ext cx="1097280" cy="1097280"/>
          </a:xfrm>
          <a:prstGeom prst="rect">
            <a:avLst/>
          </a:prstGeom>
          <a:noFill/>
          <a:ln>
            <a:noFill/>
          </a:ln>
        </p:spPr>
      </p:pic>
      <p:sp>
        <p:nvSpPr>
          <p:cNvPr id="210" name="Google Shape;210;p11"/>
          <p:cNvSpPr/>
          <p:nvPr/>
        </p:nvSpPr>
        <p:spPr>
          <a:xfrm>
            <a:off x="457200" y="1325880"/>
            <a:ext cx="8229600" cy="9144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2700"/>
              <a:buFont typeface="Arial Black"/>
              <a:buNone/>
            </a:pPr>
            <a:r>
              <a:rPr b="1" i="0" lang="en-US" sz="2700" u="none" cap="none" strike="noStrike">
                <a:solidFill>
                  <a:srgbClr val="FFFFFF"/>
                </a:solidFill>
                <a:latin typeface="Arial Black"/>
                <a:ea typeface="Arial Black"/>
                <a:cs typeface="Arial Black"/>
                <a:sym typeface="Arial Black"/>
              </a:rPr>
              <a:t>The clinical photograph hasn’t changed in decades.</a:t>
            </a:r>
            <a:endParaRPr b="0" i="0" sz="27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FFFFFF"/>
              </a:buClr>
              <a:buSzPts val="2700"/>
              <a:buFont typeface="Arial Black"/>
              <a:buNone/>
            </a:pPr>
            <a:r>
              <a:rPr b="1" i="0" lang="en-US" sz="2700" u="none" cap="none" strike="noStrike">
                <a:solidFill>
                  <a:srgbClr val="FFFFFF"/>
                </a:solidFill>
                <a:latin typeface="Arial Black"/>
                <a:ea typeface="Arial Black"/>
                <a:cs typeface="Arial Black"/>
                <a:sym typeface="Arial Black"/>
              </a:rPr>
              <a:t>It’s time it did.</a:t>
            </a:r>
            <a:endParaRPr b="0" i="0" sz="2700" u="none" cap="none" strike="noStrike">
              <a:solidFill>
                <a:schemeClr val="dk1"/>
              </a:solidFill>
              <a:latin typeface="Calibri"/>
              <a:ea typeface="Calibri"/>
              <a:cs typeface="Calibri"/>
              <a:sym typeface="Calibri"/>
            </a:endParaRPr>
          </a:p>
        </p:txBody>
      </p:sp>
      <p:sp>
        <p:nvSpPr>
          <p:cNvPr id="211" name="Google Shape;211;p11"/>
          <p:cNvSpPr/>
          <p:nvPr/>
        </p:nvSpPr>
        <p:spPr>
          <a:xfrm>
            <a:off x="3200400" y="2487168"/>
            <a:ext cx="2743200" cy="36576"/>
          </a:xfrm>
          <a:prstGeom prst="rect">
            <a:avLst/>
          </a:pr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1280160" y="2788920"/>
            <a:ext cx="320040" cy="32004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a:off x="1280160" y="2788920"/>
            <a:ext cx="320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1</a:t>
            </a:r>
            <a:endParaRPr b="0" i="0" sz="1200" u="none" cap="none" strike="noStrike">
              <a:solidFill>
                <a:schemeClr val="dk1"/>
              </a:solidFill>
              <a:latin typeface="Calibri"/>
              <a:ea typeface="Calibri"/>
              <a:cs typeface="Calibri"/>
              <a:sym typeface="Calibri"/>
            </a:endParaRPr>
          </a:p>
        </p:txBody>
      </p:sp>
      <p:sp>
        <p:nvSpPr>
          <p:cNvPr id="214" name="Google Shape;214;p11"/>
          <p:cNvSpPr/>
          <p:nvPr/>
        </p:nvSpPr>
        <p:spPr>
          <a:xfrm>
            <a:off x="1783080" y="2743200"/>
            <a:ext cx="6400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EE6"/>
              </a:buClr>
              <a:buSzPts val="1300"/>
              <a:buFont typeface="Calibri"/>
              <a:buNone/>
            </a:pPr>
            <a:r>
              <a:rPr b="0" i="0" lang="en-US" sz="1300" u="none" cap="none" strike="noStrike">
                <a:solidFill>
                  <a:srgbClr val="D0DEE6"/>
                </a:solidFill>
                <a:latin typeface="Calibri"/>
                <a:ea typeface="Calibri"/>
                <a:cs typeface="Calibri"/>
                <a:sym typeface="Calibri"/>
              </a:rPr>
              <a:t>Uses the smartphone already in every surgeon’s pocket, at zero hardware cost</a:t>
            </a:r>
            <a:endParaRPr b="0" i="0" sz="1300" u="none" cap="none" strike="noStrike">
              <a:solidFill>
                <a:schemeClr val="dk1"/>
              </a:solidFill>
              <a:latin typeface="Calibri"/>
              <a:ea typeface="Calibri"/>
              <a:cs typeface="Calibri"/>
              <a:sym typeface="Calibri"/>
            </a:endParaRPr>
          </a:p>
        </p:txBody>
      </p:sp>
      <p:sp>
        <p:nvSpPr>
          <p:cNvPr id="215" name="Google Shape;215;p11"/>
          <p:cNvSpPr/>
          <p:nvPr/>
        </p:nvSpPr>
        <p:spPr>
          <a:xfrm>
            <a:off x="1280160" y="3246120"/>
            <a:ext cx="320040" cy="32004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a:off x="1280160" y="3246120"/>
            <a:ext cx="320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2</a:t>
            </a:r>
            <a:endParaRPr b="0" i="0" sz="1200" u="none" cap="none" strike="noStrike">
              <a:solidFill>
                <a:schemeClr val="dk1"/>
              </a:solidFill>
              <a:latin typeface="Calibri"/>
              <a:ea typeface="Calibri"/>
              <a:cs typeface="Calibri"/>
              <a:sym typeface="Calibri"/>
            </a:endParaRPr>
          </a:p>
        </p:txBody>
      </p:sp>
      <p:sp>
        <p:nvSpPr>
          <p:cNvPr id="217" name="Google Shape;217;p11"/>
          <p:cNvSpPr/>
          <p:nvPr/>
        </p:nvSpPr>
        <p:spPr>
          <a:xfrm>
            <a:off x="1783080" y="3200400"/>
            <a:ext cx="6400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EE6"/>
              </a:buClr>
              <a:buSzPts val="1300"/>
              <a:buFont typeface="Calibri"/>
              <a:buNone/>
            </a:pPr>
            <a:r>
              <a:rPr b="0" i="0" lang="en-US" sz="1300" u="none" cap="none" strike="noStrike">
                <a:solidFill>
                  <a:srgbClr val="D0DEE6"/>
                </a:solidFill>
                <a:latin typeface="Calibri"/>
                <a:ea typeface="Calibri"/>
                <a:cs typeface="Calibri"/>
                <a:sym typeface="Calibri"/>
              </a:rPr>
              <a:t>Captures richer clinical data than any 2D photo or textured mesh</a:t>
            </a:r>
            <a:endParaRPr b="0" i="0" sz="1300" u="none" cap="none" strike="noStrike">
              <a:solidFill>
                <a:schemeClr val="dk1"/>
              </a:solidFill>
              <a:latin typeface="Calibri"/>
              <a:ea typeface="Calibri"/>
              <a:cs typeface="Calibri"/>
              <a:sym typeface="Calibri"/>
            </a:endParaRPr>
          </a:p>
        </p:txBody>
      </p:sp>
      <p:sp>
        <p:nvSpPr>
          <p:cNvPr id="218" name="Google Shape;218;p11"/>
          <p:cNvSpPr/>
          <p:nvPr/>
        </p:nvSpPr>
        <p:spPr>
          <a:xfrm>
            <a:off x="1280160" y="3703320"/>
            <a:ext cx="320040" cy="32004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p:nvPr/>
        </p:nvSpPr>
        <p:spPr>
          <a:xfrm>
            <a:off x="1280160" y="3703320"/>
            <a:ext cx="320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3</a:t>
            </a:r>
            <a:endParaRPr b="0" i="0" sz="1200" u="none" cap="none" strike="noStrike">
              <a:solidFill>
                <a:schemeClr val="dk1"/>
              </a:solidFill>
              <a:latin typeface="Calibri"/>
              <a:ea typeface="Calibri"/>
              <a:cs typeface="Calibri"/>
              <a:sym typeface="Calibri"/>
            </a:endParaRPr>
          </a:p>
        </p:txBody>
      </p:sp>
      <p:sp>
        <p:nvSpPr>
          <p:cNvPr id="220" name="Google Shape;220;p11"/>
          <p:cNvSpPr/>
          <p:nvPr/>
        </p:nvSpPr>
        <p:spPr>
          <a:xfrm>
            <a:off x="1783080" y="3657600"/>
            <a:ext cx="6400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EE6"/>
              </a:buClr>
              <a:buSzPts val="1300"/>
              <a:buFont typeface="Calibri"/>
              <a:buNone/>
            </a:pPr>
            <a:r>
              <a:rPr b="0" i="0" lang="en-US" sz="1300" u="none" cap="none" strike="noStrike">
                <a:solidFill>
                  <a:srgbClr val="D0DEE6"/>
                </a:solidFill>
                <a:latin typeface="Calibri"/>
                <a:ea typeface="Calibri"/>
                <a:cs typeface="Calibri"/>
                <a:sym typeface="Calibri"/>
              </a:rPr>
              <a:t>Integrated mesh extraction enables quantitative analysis and digital twinning</a:t>
            </a:r>
            <a:endParaRPr b="0" i="0" sz="1300" u="none" cap="none" strike="noStrike">
              <a:solidFill>
                <a:schemeClr val="dk1"/>
              </a:solidFill>
              <a:latin typeface="Calibri"/>
              <a:ea typeface="Calibri"/>
              <a:cs typeface="Calibri"/>
              <a:sym typeface="Calibri"/>
            </a:endParaRPr>
          </a:p>
        </p:txBody>
      </p:sp>
      <p:sp>
        <p:nvSpPr>
          <p:cNvPr id="221" name="Google Shape;221;p11"/>
          <p:cNvSpPr/>
          <p:nvPr/>
        </p:nvSpPr>
        <p:spPr>
          <a:xfrm>
            <a:off x="1280160" y="4160520"/>
            <a:ext cx="320040" cy="32004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148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a:off x="1280160" y="4160520"/>
            <a:ext cx="3200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4</a:t>
            </a:r>
            <a:endParaRPr b="0" i="0" sz="1200" u="none" cap="none" strike="noStrike">
              <a:solidFill>
                <a:schemeClr val="dk1"/>
              </a:solidFill>
              <a:latin typeface="Calibri"/>
              <a:ea typeface="Calibri"/>
              <a:cs typeface="Calibri"/>
              <a:sym typeface="Calibri"/>
            </a:endParaRPr>
          </a:p>
        </p:txBody>
      </p:sp>
      <p:sp>
        <p:nvSpPr>
          <p:cNvPr id="223" name="Google Shape;223;p11"/>
          <p:cNvSpPr/>
          <p:nvPr/>
        </p:nvSpPr>
        <p:spPr>
          <a:xfrm>
            <a:off x="1783080" y="4114800"/>
            <a:ext cx="64008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EE6"/>
              </a:buClr>
              <a:buSzPts val="1300"/>
              <a:buFont typeface="Calibri"/>
              <a:buNone/>
            </a:pPr>
            <a:r>
              <a:rPr b="0" i="0" lang="en-US" sz="1300" u="none" cap="none" strike="noStrike">
                <a:solidFill>
                  <a:srgbClr val="D0DEE6"/>
                </a:solidFill>
                <a:latin typeface="Calibri"/>
                <a:ea typeface="Calibri"/>
                <a:cs typeface="Calibri"/>
                <a:sym typeface="Calibri"/>
              </a:rPr>
              <a:t>Future-proof archive: supports machine learning and virtual surgical planning as they arrive</a:t>
            </a:r>
            <a:endParaRPr b="0" i="0" sz="1300" u="none" cap="none" strike="noStrike">
              <a:solidFill>
                <a:schemeClr val="dk1"/>
              </a:solidFill>
              <a:latin typeface="Calibri"/>
              <a:ea typeface="Calibri"/>
              <a:cs typeface="Calibri"/>
              <a:sym typeface="Calibri"/>
            </a:endParaRPr>
          </a:p>
        </p:txBody>
      </p:sp>
      <p:sp>
        <p:nvSpPr>
          <p:cNvPr id="224" name="Google Shape;224;p11"/>
          <p:cNvSpPr/>
          <p:nvPr/>
        </p:nvSpPr>
        <p:spPr>
          <a:xfrm>
            <a:off x="457200" y="470916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8EA5"/>
              </a:buClr>
              <a:buSzPts val="1000"/>
              <a:buFont typeface="Calibri"/>
              <a:buNone/>
            </a:pPr>
            <a:r>
              <a:rPr b="0" i="1" lang="en-US" sz="1000" u="none" cap="none" strike="noStrike">
                <a:solidFill>
                  <a:srgbClr val="6A8EA5"/>
                </a:solidFill>
                <a:latin typeface="Calibri"/>
                <a:ea typeface="Calibri"/>
                <a:cs typeface="Calibri"/>
                <a:sym typeface="Calibri"/>
              </a:rPr>
              <a:t>Christian Arcelona  •  Gosain Lab</a:t>
            </a:r>
            <a:r>
              <a:rPr i="1" lang="en-US" sz="1000">
                <a:solidFill>
                  <a:srgbClr val="6A8EA5"/>
                </a:solidFill>
                <a:latin typeface="Calibri"/>
                <a:ea typeface="Calibri"/>
                <a:cs typeface="Calibri"/>
                <a:sym typeface="Calibri"/>
              </a:rPr>
              <a:t> </a:t>
            </a:r>
            <a:r>
              <a:rPr i="1" lang="en-US" sz="1000">
                <a:solidFill>
                  <a:srgbClr val="6A8EA5"/>
                </a:solidFill>
                <a:latin typeface="Calibri"/>
                <a:ea typeface="Calibri"/>
                <a:cs typeface="Calibri"/>
                <a:sym typeface="Calibri"/>
              </a:rPr>
              <a:t>• </a:t>
            </a:r>
            <a:r>
              <a:rPr b="0" i="1" lang="en-US" sz="1000" u="none" cap="none" strike="noStrike">
                <a:solidFill>
                  <a:srgbClr val="6A8EA5"/>
                </a:solidFill>
                <a:latin typeface="Calibri"/>
                <a:ea typeface="Calibri"/>
                <a:cs typeface="Calibri"/>
                <a:sym typeface="Calibri"/>
              </a:rPr>
              <a:t>christianarcelona@gmail.com  •  Chicago Medical School / </a:t>
            </a:r>
            <a:r>
              <a:rPr i="1" lang="en-US" sz="1000">
                <a:solidFill>
                  <a:srgbClr val="6A8EA5"/>
                </a:solidFill>
                <a:latin typeface="Calibri"/>
                <a:ea typeface="Calibri"/>
                <a:cs typeface="Calibri"/>
                <a:sym typeface="Calibri"/>
              </a:rPr>
              <a:t>Rosalind Franklin University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